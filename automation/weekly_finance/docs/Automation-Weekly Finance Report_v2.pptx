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  <p:sldMasterId id="2147483681" r:id="rId5"/>
    <p:sldMasterId id="2147483701" r:id="rId6"/>
  </p:sldMasterIdLst>
  <p:notesMasterIdLst>
    <p:notesMasterId r:id="rId23"/>
  </p:notesMasterIdLst>
  <p:handoutMasterIdLst>
    <p:handoutMasterId r:id="rId24"/>
  </p:handoutMasterIdLst>
  <p:sldIdLst>
    <p:sldId id="3172" r:id="rId7"/>
    <p:sldId id="3190" r:id="rId8"/>
    <p:sldId id="3175" r:id="rId9"/>
    <p:sldId id="3173" r:id="rId10"/>
    <p:sldId id="3197" r:id="rId11"/>
    <p:sldId id="3191" r:id="rId12"/>
    <p:sldId id="3201" r:id="rId13"/>
    <p:sldId id="3196" r:id="rId14"/>
    <p:sldId id="3195" r:id="rId15"/>
    <p:sldId id="3194" r:id="rId16"/>
    <p:sldId id="3192" r:id="rId17"/>
    <p:sldId id="3202" r:id="rId18"/>
    <p:sldId id="3200" r:id="rId19"/>
    <p:sldId id="3203" r:id="rId20"/>
    <p:sldId id="3199" r:id="rId21"/>
    <p:sldId id="3188" r:id="rId22"/>
  </p:sldIdLst>
  <p:sldSz cx="9144000" cy="6858000" type="screen4x3"/>
  <p:notesSz cx="7010400" cy="92964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5BF92E-A5A7-F855-6249-7FF0D40FEBD3}" name="Youssef, Rouba (EHS)" initials="YR" userId="S::rouba.youssef@mass.gov::984aaf31-9f09-4376-bf78-c0c6f6f51f45" providerId="AD"/>
  <p188:author id="{38EE4539-B9F1-3230-F7AA-9371BCB3100C}" name="Langella, Stephanie K (EHS)" initials="L(" userId="S::stephanie.k.langella@mass.gov::a8103142-0a98-4200-a623-800869d86b9d" providerId="AD"/>
  <p188:author id="{AB6B5872-BDDB-6908-DE86-2C1E6FDCC683}" name="Vecchione-Koval, Toni (EHS)" initials="VKT(" userId="S::Toni.Vecchione-Koval@mass.gov::803a4d5a-580d-405b-8328-c14521d4fe27" providerId="AD"/>
  <p188:author id="{38DAF5BE-F448-24B6-9CFE-20C320B779BC}" name="Boney, John (EHS)" initials="BJ(" userId="S::john.boney@mass.gov::4c8d07bc-47b8-4804-8512-9808dbd93fc3" providerId="AD"/>
  <p188:author id="{7968D9DF-ECEF-BA71-E0FE-D03CF842C619}" name="Kray, Tatyana (EHS)" initials="TK" userId="S::Tatyana.Kray@mass.gov::7f72b801-9f98-422e-a198-18f3fe4ae0d4" providerId="AD"/>
  <p188:author id="{C10000ED-F8EA-D6ED-FC91-98816BE43ED5}" name="Ali, Shahin (EHS)" initials="AS(" userId="S::Shahin.Ali@mass.gov::ac40d663-caba-41c3-9ec1-18978e6acb3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mirsoy, Ipek (EHS)" initials="DI(" lastIdx="5" clrIdx="0"/>
  <p:cmAuthor id="2" name="Cassel Kraft, Amanda (EHS)" initials="CKA(" lastIdx="12" clrIdx="1">
    <p:extLst>
      <p:ext uri="{19B8F6BF-5375-455C-9EA6-DF929625EA0E}">
        <p15:presenceInfo xmlns:p15="http://schemas.microsoft.com/office/powerpoint/2012/main" userId="S::Amanda.CasselKraft@massmail.state.ma.us::e06c37dc-561a-4870-b7be-cfbc4af0d01a" providerId="AD"/>
      </p:ext>
    </p:extLst>
  </p:cmAuthor>
  <p:cmAuthor id="3" name="Greg Townsend" initials="GT" lastIdx="5" clrIdx="2">
    <p:extLst>
      <p:ext uri="{19B8F6BF-5375-455C-9EA6-DF929625EA0E}">
        <p15:presenceInfo xmlns:p15="http://schemas.microsoft.com/office/powerpoint/2012/main" userId="5255849595ba410d" providerId="Windows Live"/>
      </p:ext>
    </p:extLst>
  </p:cmAuthor>
  <p:cmAuthor id="4" name="Boney, John (EHS)" initials="BJ(" lastIdx="1" clrIdx="3">
    <p:extLst>
      <p:ext uri="{19B8F6BF-5375-455C-9EA6-DF929625EA0E}">
        <p15:presenceInfo xmlns:p15="http://schemas.microsoft.com/office/powerpoint/2012/main" userId="S::john.boney@mass.gov::4c8d07bc-47b8-4804-8512-9808dbd93fc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8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8" d="100"/>
          <a:sy n="48" d="100"/>
        </p:scale>
        <p:origin x="848" y="-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CE3B9-1A32-4C6F-B531-353628D2EB1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7F774-77CD-4553-A295-D6EA41867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84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96998E9-7F7D-4837-BC2F-1F82F352361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4D1DE50-5D7C-40F9-82D2-ADBDA77D3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0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98774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8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4251306" y="3245968"/>
            <a:ext cx="4892693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71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6477000" y="76200"/>
            <a:ext cx="2561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>
                <a:solidFill>
                  <a:srgbClr val="FF0000"/>
                </a:solidFill>
              </a:rPr>
              <a:t>PRELIMINARY</a:t>
            </a:r>
            <a:r>
              <a:rPr lang="en-US" sz="1400" b="1" i="1" baseline="0">
                <a:solidFill>
                  <a:srgbClr val="FF0000"/>
                </a:solidFill>
              </a:rPr>
              <a:t> DRAFT / WIP</a:t>
            </a:r>
            <a:endParaRPr lang="en-US" sz="1400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54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896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716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25654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37592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9530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22860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6863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70866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</p:spTree>
    <p:extLst>
      <p:ext uri="{BB962C8B-B14F-4D97-AF65-F5344CB8AC3E}">
        <p14:creationId xmlns:p14="http://schemas.microsoft.com/office/powerpoint/2010/main" val="94964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61981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>
            <p:custDataLst>
              <p:tags r:id="rId2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425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09600" y="1066802"/>
            <a:ext cx="2901756" cy="1231106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36DB6FCE-9E37-4B24-B368-41475BEFD7B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425" b="1" i="0" baseline="0">
              <a:latin typeface="Arial"/>
              <a:ea typeface="+mj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168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 bwMode="auto">
          <a:xfrm>
            <a:off x="2693796" y="2648241"/>
            <a:ext cx="5539245" cy="50783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3300" b="0" baseline="0">
                <a:latin typeface="+mj-lt"/>
                <a:ea typeface="+mj-ea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3796" y="3770660"/>
            <a:ext cx="5539245" cy="219820"/>
          </a:xfrm>
        </p:spPr>
        <p:txBody>
          <a:bodyPr>
            <a:spAutoFit/>
          </a:bodyPr>
          <a:lstStyle>
            <a:lvl1pPr>
              <a:defRPr sz="1400" baseline="0"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8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4251306" y="3245968"/>
            <a:ext cx="4892693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332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6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970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3716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25654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37592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953000"/>
            <a:ext cx="173736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22860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46863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7086600" y="990606"/>
            <a:ext cx="1219200" cy="25122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</p:spTree>
    <p:extLst>
      <p:ext uri="{BB962C8B-B14F-4D97-AF65-F5344CB8AC3E}">
        <p14:creationId xmlns:p14="http://schemas.microsoft.com/office/powerpoint/2010/main" val="242782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4835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lternate 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355980"/>
              </p:ext>
            </p:extLst>
          </p:nvPr>
        </p:nvGraphicFramePr>
        <p:xfrm>
          <a:off x="1621" y="1621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" y="1621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TopPlaceholder"/>
          <p:cNvSpPr>
            <a:spLocks noChangeArrowheads="1"/>
          </p:cNvSpPr>
          <p:nvPr/>
        </p:nvSpPr>
        <p:spPr bwMode="ltGray">
          <a:xfrm>
            <a:off x="2125654" y="3245969"/>
            <a:ext cx="2125653" cy="436455"/>
          </a:xfrm>
          <a:prstGeom prst="rect">
            <a:avLst/>
          </a:prstGeom>
          <a:solidFill>
            <a:schemeClr val="accent4">
              <a:alpha val="77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3" name="TitleTopPlaceholder"/>
          <p:cNvSpPr>
            <a:spLocks noChangeArrowheads="1"/>
          </p:cNvSpPr>
          <p:nvPr/>
        </p:nvSpPr>
        <p:spPr bwMode="ltGray">
          <a:xfrm>
            <a:off x="1" y="3245968"/>
            <a:ext cx="2125653" cy="436455"/>
          </a:xfrm>
          <a:prstGeom prst="rect">
            <a:avLst/>
          </a:prstGeom>
          <a:solidFill>
            <a:srgbClr val="FFC000">
              <a:alpha val="8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4" name="TitleTopPlaceholder"/>
          <p:cNvSpPr>
            <a:spLocks noChangeArrowheads="1"/>
          </p:cNvSpPr>
          <p:nvPr/>
        </p:nvSpPr>
        <p:spPr bwMode="ltGray">
          <a:xfrm>
            <a:off x="4251306" y="3246844"/>
            <a:ext cx="4892693" cy="436455"/>
          </a:xfrm>
          <a:prstGeom prst="rect">
            <a:avLst/>
          </a:prstGeom>
          <a:solidFill>
            <a:srgbClr val="009900">
              <a:alpha val="69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3296" tIns="46648" rIns="93296" bIns="4664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15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67" y="2029603"/>
            <a:ext cx="2075338" cy="207521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McK Disclaimer"/>
          <p:cNvSpPr>
            <a:spLocks noChangeArrowheads="1"/>
          </p:cNvSpPr>
          <p:nvPr/>
        </p:nvSpPr>
        <p:spPr bwMode="auto">
          <a:xfrm>
            <a:off x="2693796" y="5983586"/>
            <a:ext cx="512127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/>
          <a:p>
            <a:pPr defTabSz="803755" eaLnBrk="0" hangingPunct="0"/>
            <a:r>
              <a:rPr lang="en-US" sz="1000">
                <a:solidFill>
                  <a:srgbClr val="002960"/>
                </a:solidFill>
                <a:ea typeface="ＭＳ Ｐゴシック"/>
              </a:rPr>
              <a:t>CONFIDENTIAL; FOR POLICY DEVELOPMENT PURPOSES ONLY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2693796" y="4940989"/>
            <a:ext cx="3344854" cy="215444"/>
          </a:xfrm>
          <a:prstGeom prst="rect">
            <a:avLst/>
          </a:prstGeo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  <a:lvl3pPr>
              <a:defRPr/>
            </a:lvl3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75620" y="2669879"/>
            <a:ext cx="6027958" cy="430887"/>
          </a:xfrm>
        </p:spPr>
        <p:txBody>
          <a:bodyPr/>
          <a:lstStyle>
            <a:lvl1pPr marL="0" algn="l" defTabSz="913429" rtl="0" eaLnBrk="1" fontAlgn="base" latinLnBrk="0" hangingPunct="1">
              <a:spcBef>
                <a:spcPct val="0"/>
              </a:spcBef>
              <a:spcAft>
                <a:spcPct val="0"/>
              </a:spcAft>
              <a:tabLst>
                <a:tab pos="275324" algn="l"/>
              </a:tabLst>
              <a:defRPr lang="en-US" sz="2800" b="1" kern="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Rectangle 1027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8690" y="4278868"/>
            <a:ext cx="5539245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400" baseline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256094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28600" y="838200"/>
            <a:ext cx="8763000" cy="548640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717901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28600" y="838200"/>
            <a:ext cx="8610600" cy="541020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>
              <a:spcAft>
                <a:spcPts val="600"/>
              </a:spcAft>
              <a:defRPr lang="en-US" sz="1600" baseline="0" dirty="0" smtClean="0">
                <a:solidFill>
                  <a:schemeClr val="tx1"/>
                </a:solidFill>
                <a:latin typeface="+mn-lt"/>
              </a:defRPr>
            </a:lvl2pPr>
            <a:lvl3pPr marL="466431" indent="-267227">
              <a:spcAft>
                <a:spcPts val="600"/>
              </a:spcAft>
              <a:defRPr lang="en-US" sz="1600" baseline="0" dirty="0" smtClean="0">
                <a:solidFill>
                  <a:schemeClr val="tx1"/>
                </a:solidFill>
                <a:latin typeface="+mn-lt"/>
              </a:defRPr>
            </a:lvl3pPr>
            <a:lvl4pPr marL="626768" indent="-158716">
              <a:spcAft>
                <a:spcPts val="600"/>
              </a:spcAft>
              <a:defRPr lang="en-US" sz="1600" baseline="0" dirty="0" smtClean="0">
                <a:solidFill>
                  <a:schemeClr val="tx1"/>
                </a:solidFill>
                <a:latin typeface="+mn-lt"/>
              </a:defRPr>
            </a:lvl4pPr>
            <a:lvl5pPr marL="764947" indent="-132804">
              <a:spcAft>
                <a:spcPts val="600"/>
              </a:spcAft>
              <a:defRPr lang="en-US" sz="1600" baseline="0" dirty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169764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04800" y="1371600"/>
            <a:ext cx="2834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131793" y="1371600"/>
            <a:ext cx="2834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3200400" y="1371600"/>
            <a:ext cx="2834640" cy="49377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990600"/>
            <a:ext cx="283464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990600"/>
            <a:ext cx="283464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131793" y="990600"/>
            <a:ext cx="283464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3</a:t>
            </a:r>
          </a:p>
        </p:txBody>
      </p:sp>
    </p:spTree>
    <p:extLst>
      <p:ext uri="{BB962C8B-B14F-4D97-AF65-F5344CB8AC3E}">
        <p14:creationId xmlns:p14="http://schemas.microsoft.com/office/powerpoint/2010/main" val="377352164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14898" y="1112520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14898" y="4033986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600942" y="1112520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4898" y="731520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600942" y="731520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214898" y="3652986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3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4600942" y="4033986"/>
            <a:ext cx="4297680" cy="2468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spcAft>
                <a:spcPts val="600"/>
              </a:spcAft>
              <a:defRPr/>
            </a:lvl1pPr>
            <a:lvl2pPr marL="197586" indent="-19596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2pPr>
            <a:lvl3pPr marL="466431" indent="-267227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Courier New" panose="02070309020205020404" pitchFamily="49" charset="0"/>
              <a:buChar char="o"/>
              <a:defRPr/>
            </a:lvl3pPr>
            <a:lvl4pPr marL="626768" indent="-158716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764947" indent="-132804" algn="l" defTabSz="913429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tx2"/>
              </a:buClr>
              <a:buSzPct val="89000"/>
              <a:buFont typeface="Arial" charset="0"/>
              <a:buChar char="-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4600942" y="3652986"/>
            <a:ext cx="4297680" cy="381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Header 4</a:t>
            </a:r>
          </a:p>
        </p:txBody>
      </p:sp>
    </p:spTree>
    <p:extLst>
      <p:ext uri="{BB962C8B-B14F-4D97-AF65-F5344CB8AC3E}">
        <p14:creationId xmlns:p14="http://schemas.microsoft.com/office/powerpoint/2010/main" val="224921080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05232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945" y="2590800"/>
            <a:ext cx="8053675" cy="2983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331823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9482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156" y="1990667"/>
            <a:ext cx="4389768" cy="12561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382E-7F1F-41B6-A3D9-A2DE21724E1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37617-FB17-4A2D-BAC0-DEAA2F12B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4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tags" Target="../tags/tag8.xml"/><Relationship Id="rId18" Type="http://schemas.openxmlformats.org/officeDocument/2006/relationships/tags" Target="../tags/tag13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6.xml"/><Relationship Id="rId7" Type="http://schemas.openxmlformats.org/officeDocument/2006/relationships/tags" Target="../tags/tag2.xml"/><Relationship Id="rId12" Type="http://schemas.openxmlformats.org/officeDocument/2006/relationships/tags" Target="../tags/tag7.xml"/><Relationship Id="rId17" Type="http://schemas.openxmlformats.org/officeDocument/2006/relationships/tags" Target="../tags/tag12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1.xml"/><Relationship Id="rId20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6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0.xml"/><Relationship Id="rId23" Type="http://schemas.openxmlformats.org/officeDocument/2006/relationships/oleObject" Target="../embeddings/oleObject1.bin"/><Relationship Id="rId10" Type="http://schemas.openxmlformats.org/officeDocument/2006/relationships/tags" Target="../tags/tag5.xml"/><Relationship Id="rId19" Type="http://schemas.openxmlformats.org/officeDocument/2006/relationships/tags" Target="../tags/tag1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4.xml"/><Relationship Id="rId14" Type="http://schemas.openxmlformats.org/officeDocument/2006/relationships/tags" Target="../tags/tag9.xml"/><Relationship Id="rId22" Type="http://schemas.openxmlformats.org/officeDocument/2006/relationships/tags" Target="../tags/tag1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slideLayout" Target="../slideLayouts/slideLayout8.xml"/><Relationship Id="rId21" Type="http://schemas.openxmlformats.org/officeDocument/2006/relationships/tags" Target="../tags/tag36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11" Type="http://schemas.openxmlformats.org/officeDocument/2006/relationships/tags" Target="../tags/tag26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10.xml"/><Relationship Id="rId15" Type="http://schemas.openxmlformats.org/officeDocument/2006/relationships/tags" Target="../tags/tag30.xml"/><Relationship Id="rId23" Type="http://schemas.openxmlformats.org/officeDocument/2006/relationships/oleObject" Target="../embeddings/oleObject1.bin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slideLayout" Target="../slideLayouts/slideLayout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26" Type="http://schemas.openxmlformats.org/officeDocument/2006/relationships/tags" Target="../tags/tag54.xml"/><Relationship Id="rId3" Type="http://schemas.openxmlformats.org/officeDocument/2006/relationships/slideLayout" Target="../slideLayouts/slideLayout13.xml"/><Relationship Id="rId21" Type="http://schemas.openxmlformats.org/officeDocument/2006/relationships/tags" Target="../tags/tag49.xml"/><Relationship Id="rId7" Type="http://schemas.openxmlformats.org/officeDocument/2006/relationships/slideLayout" Target="../slideLayouts/slideLayout17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tags" Target="../tags/tag53.xml"/><Relationship Id="rId2" Type="http://schemas.openxmlformats.org/officeDocument/2006/relationships/slideLayout" Target="../slideLayouts/slideLayout12.xml"/><Relationship Id="rId16" Type="http://schemas.openxmlformats.org/officeDocument/2006/relationships/tags" Target="../tags/tag44.xml"/><Relationship Id="rId20" Type="http://schemas.openxmlformats.org/officeDocument/2006/relationships/tags" Target="../tags/tag48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ags" Target="../tags/tag39.xml"/><Relationship Id="rId24" Type="http://schemas.openxmlformats.org/officeDocument/2006/relationships/tags" Target="../tags/tag52.xml"/><Relationship Id="rId5" Type="http://schemas.openxmlformats.org/officeDocument/2006/relationships/slideLayout" Target="../slideLayouts/slideLayout15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image" Target="../media/image1.emf"/><Relationship Id="rId10" Type="http://schemas.openxmlformats.org/officeDocument/2006/relationships/theme" Target="../theme/theme3.xml"/><Relationship Id="rId19" Type="http://schemas.openxmlformats.org/officeDocument/2006/relationships/tags" Target="../tags/tag47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oleObject" Target="../embeddings/oleObject4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509892053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 userDrawn="1"/>
        </p:nvGrpSpPr>
        <p:grpSpPr bwMode="ltGray">
          <a:xfrm>
            <a:off x="2" y="6588309"/>
            <a:ext cx="9143998" cy="292608"/>
            <a:chOff x="-476250" y="1079180"/>
            <a:chExt cx="9437687" cy="47577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9180"/>
              <a:ext cx="2193925" cy="475777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9180"/>
              <a:ext cx="2193925" cy="475777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911599" y="1079180"/>
              <a:ext cx="5049838" cy="475777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McK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 userDrawn="1"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>
                <a:solidFill>
                  <a:srgbClr val="FFFFFF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32906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678" r:id="rId4"/>
    <p:sldLayoutId id="2147483700" r:id="rId5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 userDrawn="1"/>
        </p:nvGrpSpPr>
        <p:grpSpPr bwMode="ltGray">
          <a:xfrm>
            <a:off x="2" y="6588309"/>
            <a:ext cx="9143998" cy="292608"/>
            <a:chOff x="-476250" y="1079180"/>
            <a:chExt cx="9437687" cy="475777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9180"/>
              <a:ext cx="2193925" cy="475777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9180"/>
              <a:ext cx="2193925" cy="475777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911599" y="1079180"/>
              <a:ext cx="5049838" cy="475777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036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2156" y="1990667"/>
            <a:ext cx="4389768" cy="12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McK 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McK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 userDrawn="1"/>
        </p:nvSpPr>
        <p:spPr>
          <a:xfrm>
            <a:off x="5192429" y="6619158"/>
            <a:ext cx="430212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>
                <a:solidFill>
                  <a:srgbClr val="FFFFFF"/>
                </a:solidFill>
              </a:rPr>
              <a:t>DRAFT Confidential – Proprietary and predecisional</a:t>
            </a:r>
          </a:p>
        </p:txBody>
      </p:sp>
    </p:spTree>
    <p:extLst>
      <p:ext uri="{BB962C8B-B14F-4D97-AF65-F5344CB8AC3E}">
        <p14:creationId xmlns:p14="http://schemas.microsoft.com/office/powerpoint/2010/main" val="313687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567385618"/>
              </p:ext>
            </p:extLst>
          </p:nvPr>
        </p:nvGraphicFramePr>
        <p:xfrm>
          <a:off x="0" y="0"/>
          <a:ext cx="161984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270" imgH="270" progId="TCLayout.ActiveDocument.1">
                  <p:embed/>
                </p:oleObj>
              </mc:Choice>
              <mc:Fallback>
                <p:oleObj name="think-cell Slide" r:id="rId27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61984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57"/>
          <p:cNvGrpSpPr/>
          <p:nvPr/>
        </p:nvGrpSpPr>
        <p:grpSpPr bwMode="ltGray">
          <a:xfrm>
            <a:off x="2" y="6565684"/>
            <a:ext cx="9143998" cy="293194"/>
            <a:chOff x="-476250" y="1078227"/>
            <a:chExt cx="9437687" cy="476729"/>
          </a:xfrm>
        </p:grpSpPr>
        <p:sp>
          <p:nvSpPr>
            <p:cNvPr id="59" name="TitleTopPlaceholder"/>
            <p:cNvSpPr>
              <a:spLocks noChangeArrowheads="1"/>
            </p:cNvSpPr>
            <p:nvPr/>
          </p:nvSpPr>
          <p:spPr bwMode="ltGray">
            <a:xfrm>
              <a:off x="1717675" y="1078230"/>
              <a:ext cx="2193925" cy="475776"/>
            </a:xfrm>
            <a:prstGeom prst="rect">
              <a:avLst/>
            </a:prstGeom>
            <a:solidFill>
              <a:schemeClr val="accent4">
                <a:alpha val="77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0" name="TitleTopPlaceholder"/>
            <p:cNvSpPr>
              <a:spLocks noChangeArrowheads="1"/>
            </p:cNvSpPr>
            <p:nvPr/>
          </p:nvSpPr>
          <p:spPr bwMode="ltGray">
            <a:xfrm>
              <a:off x="-476250" y="1078227"/>
              <a:ext cx="2193925" cy="475776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61" name="TitleTopPlaceholder"/>
            <p:cNvSpPr>
              <a:spLocks noChangeArrowheads="1"/>
            </p:cNvSpPr>
            <p:nvPr/>
          </p:nvSpPr>
          <p:spPr bwMode="ltGray">
            <a:xfrm>
              <a:off x="3911599" y="1079180"/>
              <a:ext cx="5049838" cy="475776"/>
            </a:xfrm>
            <a:prstGeom prst="rect">
              <a:avLst/>
            </a:prstGeom>
            <a:solidFill>
              <a:srgbClr val="009900">
                <a:alpha val="69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74945" y="234863"/>
            <a:ext cx="8053675" cy="298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auto">
          <a:xfrm>
            <a:off x="174944" y="27536"/>
            <a:ext cx="876714" cy="219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auto">
          <a:xfrm>
            <a:off x="174944" y="542617"/>
            <a:ext cx="8053675" cy="25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808080"/>
                </a:solidFill>
                <a:latin typeface="Arial"/>
              </a:rPr>
              <a:t>Unit of measure</a:t>
            </a:r>
          </a:p>
        </p:txBody>
      </p:sp>
      <p:grpSp>
        <p:nvGrpSpPr>
          <p:cNvPr id="12" name="Slide Elements" hidden="1"/>
          <p:cNvGrpSpPr>
            <a:grpSpLocks/>
          </p:cNvGrpSpPr>
          <p:nvPr/>
        </p:nvGrpSpPr>
        <p:grpSpPr bwMode="auto">
          <a:xfrm>
            <a:off x="174944" y="6086391"/>
            <a:ext cx="8799129" cy="413035"/>
            <a:chOff x="75" y="3895"/>
            <a:chExt cx="689" cy="255"/>
          </a:xfrm>
        </p:grpSpPr>
        <p:sp>
          <p:nvSpPr>
            <p:cNvPr id="13" name="4. Footnote"/>
            <p:cNvSpPr txBox="1">
              <a:spLocks noChangeArrowheads="1"/>
            </p:cNvSpPr>
            <p:nvPr/>
          </p:nvSpPr>
          <p:spPr bwMode="auto">
            <a:xfrm>
              <a:off x="75" y="3895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00">
                  <a:solidFill>
                    <a:srgbClr val="000000"/>
                  </a:solidFill>
                  <a:latin typeface="Arial"/>
                </a:rPr>
                <a:t>1 Footnote</a:t>
              </a:r>
            </a:p>
          </p:txBody>
        </p:sp>
        <p:sp>
          <p:nvSpPr>
            <p:cNvPr id="14" name="5. Source"/>
            <p:cNvSpPr>
              <a:spLocks noChangeArrowheads="1"/>
            </p:cNvSpPr>
            <p:nvPr/>
          </p:nvSpPr>
          <p:spPr bwMode="auto">
            <a:xfrm>
              <a:off x="75" y="4053"/>
              <a:ext cx="689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621910" indent="-621910" defTabSz="913429" fontAlgn="base">
                <a:spcBef>
                  <a:spcPct val="0"/>
                </a:spcBef>
                <a:spcAft>
                  <a:spcPct val="0"/>
                </a:spcAft>
                <a:tabLst>
                  <a:tab pos="625148" algn="l"/>
                </a:tabLst>
              </a:pPr>
              <a:r>
                <a:rPr 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/>
        </p:nvGrpSpPr>
        <p:grpSpPr bwMode="auto">
          <a:xfrm>
            <a:off x="1482156" y="1150019"/>
            <a:ext cx="4350892" cy="518318"/>
            <a:chOff x="915" y="710"/>
            <a:chExt cx="2686" cy="320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>
                  <a:solidFill>
                    <a:srgbClr val="000000"/>
                  </a:solidFill>
                </a:rPr>
                <a:t>Title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63" name="LegendBoxes" hidden="1"/>
          <p:cNvGrpSpPr>
            <a:grpSpLocks/>
          </p:cNvGrpSpPr>
          <p:nvPr/>
        </p:nvGrpSpPr>
        <p:grpSpPr bwMode="auto">
          <a:xfrm>
            <a:off x="7449476" y="275439"/>
            <a:ext cx="779144" cy="1017201"/>
            <a:chOff x="4936" y="176"/>
            <a:chExt cx="481" cy="628"/>
          </a:xfrm>
        </p:grpSpPr>
        <p:sp>
          <p:nvSpPr>
            <p:cNvPr id="64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5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6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7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68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69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0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1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</p:grpSp>
      <p:grpSp>
        <p:nvGrpSpPr>
          <p:cNvPr id="72" name="LegendLines" hidden="1"/>
          <p:cNvGrpSpPr>
            <a:grpSpLocks/>
          </p:cNvGrpSpPr>
          <p:nvPr/>
        </p:nvGrpSpPr>
        <p:grpSpPr bwMode="auto">
          <a:xfrm>
            <a:off x="7135228" y="275439"/>
            <a:ext cx="1093393" cy="745084"/>
            <a:chOff x="4750" y="176"/>
            <a:chExt cx="675" cy="460"/>
          </a:xfrm>
        </p:grpSpPr>
        <p:sp>
          <p:nvSpPr>
            <p:cNvPr id="73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4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5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76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7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78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</p:grpSp>
      <p:grpSp>
        <p:nvGrpSpPr>
          <p:cNvPr id="79" name="Sticker" hidden="1"/>
          <p:cNvGrpSpPr/>
          <p:nvPr/>
        </p:nvGrpSpPr>
        <p:grpSpPr bwMode="auto">
          <a:xfrm>
            <a:off x="7139991" y="275438"/>
            <a:ext cx="1088630" cy="216680"/>
            <a:chOff x="7673880" y="285750"/>
            <a:chExt cx="1066895" cy="212366"/>
          </a:xfrm>
        </p:grpSpPr>
        <p:sp>
          <p:nvSpPr>
            <p:cNvPr id="80" name="StickerRectangle"/>
            <p:cNvSpPr>
              <a:spLocks noChangeArrowheads="1"/>
            </p:cNvSpPr>
            <p:nvPr/>
          </p:nvSpPr>
          <p:spPr bwMode="auto">
            <a:xfrm>
              <a:off x="7673880" y="285750"/>
              <a:ext cx="1066895" cy="2123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808080"/>
                  </a:solidFill>
                </a:rPr>
                <a:t>PRELIMINARY</a:t>
              </a:r>
            </a:p>
          </p:txBody>
        </p:sp>
        <p:cxnSp>
          <p:nvCxnSpPr>
            <p:cNvPr id="81" name="AutoShape 31"/>
            <p:cNvCxnSpPr>
              <a:cxnSpLocks noChangeShapeType="1"/>
              <a:stCxn id="80" idx="2"/>
              <a:endCxn id="80" idx="4"/>
            </p:cNvCxnSpPr>
            <p:nvPr/>
          </p:nvCxnSpPr>
          <p:spPr bwMode="auto">
            <a:xfrm>
              <a:off x="7673880" y="285750"/>
              <a:ext cx="0" cy="212366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32"/>
            <p:cNvCxnSpPr>
              <a:cxnSpLocks noChangeShapeType="1"/>
              <a:stCxn id="80" idx="4"/>
              <a:endCxn id="80" idx="6"/>
            </p:cNvCxnSpPr>
            <p:nvPr/>
          </p:nvCxnSpPr>
          <p:spPr bwMode="auto">
            <a:xfrm>
              <a:off x="7673880" y="498116"/>
              <a:ext cx="1066895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3" name="LegendMoons" hidden="1"/>
          <p:cNvGrpSpPr/>
          <p:nvPr/>
        </p:nvGrpSpPr>
        <p:grpSpPr bwMode="auto">
          <a:xfrm>
            <a:off x="7381273" y="275438"/>
            <a:ext cx="847347" cy="1333054"/>
            <a:chOff x="6655594" y="273840"/>
            <a:chExt cx="830430" cy="1306516"/>
          </a:xfrm>
        </p:grpSpPr>
        <p:grpSp>
          <p:nvGrpSpPr>
            <p:cNvPr id="8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02" name="Oval 38"/>
              <p:cNvSpPr>
                <a:spLocks noChangeAspect="1"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Arc 39"/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00" name="Oval 41"/>
              <p:cNvSpPr>
                <a:spLocks noChangeAspect="1"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Arc 42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6" name="MoonLegend4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98" name="Oval 47"/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Arc 48"/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7" name="MoonLegend5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96" name="Oval 50"/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Oval 51"/>
              <p:cNvSpPr>
                <a:spLocks noChangeAspect="1"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88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89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0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1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sp>
          <p:nvSpPr>
            <p:cNvPr id="92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US" sz="1200">
                  <a:solidFill>
                    <a:srgbClr val="000000"/>
                  </a:solidFill>
                </a:rPr>
                <a:t>Legend</a:t>
              </a:r>
            </a:p>
          </p:txBody>
        </p:sp>
        <p:grpSp>
          <p:nvGrpSpPr>
            <p:cNvPr id="93" name="MoonLegend3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94" name="Oval 47"/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Arc 48"/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4" name="Slide Number"/>
          <p:cNvSpPr txBox="1">
            <a:spLocks/>
          </p:cNvSpPr>
          <p:nvPr/>
        </p:nvSpPr>
        <p:spPr bwMode="auto">
          <a:xfrm>
            <a:off x="8808763" y="6633336"/>
            <a:ext cx="160294" cy="15701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42C328C1-A84F-4A39-A664-DBA00541A8C6}" type="slidenum">
              <a:rPr lang="en-US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2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/>
        </p:nvPicPr>
        <p:blipFill>
          <a:blip r:embed="rId2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/>
          <p:cNvSpPr txBox="1"/>
          <p:nvPr/>
        </p:nvSpPr>
        <p:spPr>
          <a:xfrm>
            <a:off x="5410200" y="6619158"/>
            <a:ext cx="324431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lvl="0" indent="0" defTabSz="895255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55" lvl="1" indent="-192067" defTabSz="895255" eaLnBrk="1" hangingPunct="1">
              <a:buClr>
                <a:schemeClr val="tx2"/>
              </a:buClr>
              <a:buSzPct val="125000"/>
              <a:buFont typeface="Arial" charset="0"/>
              <a:buChar char="▪"/>
              <a:defRPr baseline="0">
                <a:latin typeface="+mn-lt"/>
              </a:defRPr>
            </a:lvl2pPr>
            <a:lvl3pPr marL="457151" lvl="2" indent="-261910" defTabSz="895255" eaLnBrk="1" hangingPunct="1">
              <a:buClr>
                <a:schemeClr val="tx2"/>
              </a:buClr>
              <a:buSzPct val="120000"/>
              <a:buFont typeface="Arial" charset="0"/>
              <a:buChar char="–"/>
              <a:defRPr baseline="0">
                <a:latin typeface="+mn-lt"/>
              </a:defRPr>
            </a:lvl3pPr>
            <a:lvl4pPr marL="614298" lvl="3" indent="-155558" defTabSz="895255" eaLnBrk="1" hangingPunct="1">
              <a:buClr>
                <a:schemeClr val="tx2"/>
              </a:buClr>
              <a:buSzPct val="120000"/>
              <a:buFont typeface="Arial" charset="0"/>
              <a:buChar char="▫"/>
              <a:defRPr baseline="0">
                <a:latin typeface="+mn-lt"/>
              </a:defRPr>
            </a:lvl4pPr>
            <a:lvl5pPr marL="749728" lvl="4" indent="-130162" defTabSz="895255" eaLnBrk="1" hangingPunct="1"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5pPr>
            <a:lvl6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728" indent="-130162" defTabSz="895255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buClr>
                <a:srgbClr val="000000"/>
              </a:buClr>
            </a:pPr>
            <a:r>
              <a:rPr lang="en-US" sz="1100">
                <a:solidFill>
                  <a:srgbClr val="FFFFFF"/>
                </a:solidFill>
              </a:rPr>
              <a:t>Confidential – for policy development purposes</a:t>
            </a:r>
            <a:r>
              <a:rPr lang="en-US" sz="1100" baseline="0">
                <a:solidFill>
                  <a:srgbClr val="FFFFFF"/>
                </a:solidFill>
              </a:rPr>
              <a:t> only </a:t>
            </a:r>
            <a:endParaRPr lang="en-US" sz="1100">
              <a:solidFill>
                <a:srgbClr val="FFFFFF"/>
              </a:solidFill>
            </a:endParaRPr>
          </a:p>
        </p:txBody>
      </p:sp>
      <p:pic>
        <p:nvPicPr>
          <p:cNvPr id="110" name="Picture 4" descr="http://upload.wikimedia.org/wikipedia/commons/thumb/8/82/Seal_of_Massachusetts.svg/2000px-Seal_of_Massachusetts.svg.png"/>
          <p:cNvPicPr>
            <a:picLocks noChangeAspect="1" noChangeArrowheads="1"/>
          </p:cNvPicPr>
          <p:nvPr userDrawn="1"/>
        </p:nvPicPr>
        <p:blipFill>
          <a:blip r:embed="rId2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965" y="135844"/>
            <a:ext cx="629092" cy="629055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32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</p:sldLayoutIdLst>
  <p:hf hdr="0" ftr="0" dt="0"/>
  <p:txStyles>
    <p:titleStyle>
      <a:lvl1pPr algn="l" defTabSz="913429" rtl="0" eaLnBrk="1" fontAlgn="base" hangingPunct="1">
        <a:spcBef>
          <a:spcPct val="0"/>
        </a:spcBef>
        <a:spcAft>
          <a:spcPct val="0"/>
        </a:spcAft>
        <a:tabLst>
          <a:tab pos="275324" algn="l"/>
        </a:tabLst>
        <a:defRPr sz="19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2pPr>
      <a:lvl3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3pPr>
      <a:lvl4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4pPr>
      <a:lvl5pPr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5pPr>
      <a:lvl6pPr marL="466431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863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9295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728" algn="l" defTabSz="913429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defRPr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7586" indent="-19596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sz="1600" baseline="0">
          <a:solidFill>
            <a:schemeClr val="tx1"/>
          </a:solidFill>
          <a:latin typeface="+mn-lt"/>
        </a:defRPr>
      </a:lvl2pPr>
      <a:lvl3pPr marL="466431" indent="-267227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sz="1600" baseline="0">
          <a:solidFill>
            <a:schemeClr val="tx1"/>
          </a:solidFill>
          <a:latin typeface="+mn-lt"/>
        </a:defRPr>
      </a:lvl3pPr>
      <a:lvl4pPr marL="626768" indent="-158716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sz="1600" baseline="0">
          <a:solidFill>
            <a:schemeClr val="tx1"/>
          </a:solidFill>
          <a:latin typeface="+mn-lt"/>
        </a:defRPr>
      </a:lvl4pPr>
      <a:lvl5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5pPr>
      <a:lvl6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947" indent="-132804" algn="l" defTabSz="913429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431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86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295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728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2159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590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022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1453" algn="l" defTabSz="9328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ssgov-eohhs/mha_reg_reporting/blob/main/REF-automate-snowflake-task.md" TargetMode="External"/><Relationship Id="rId7" Type="http://schemas.openxmlformats.org/officeDocument/2006/relationships/hyperlink" Target="https://docs.snowflake.com/en/sql-reference/sql/create-procedure" TargetMode="External"/><Relationship Id="rId2" Type="http://schemas.openxmlformats.org/officeDocument/2006/relationships/hyperlink" Target="http://github.com/massgov-eohhs/mha_reg_reporting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rontab.guru/" TargetMode="External"/><Relationship Id="rId5" Type="http://schemas.openxmlformats.org/officeDocument/2006/relationships/hyperlink" Target="https://docs.snowflake.com/en/sql-reference/sql/create-task" TargetMode="External"/><Relationship Id="rId4" Type="http://schemas.openxmlformats.org/officeDocument/2006/relationships/hyperlink" Target="http://github.com/massgov-eohhs/mha_reg_reporting/blob/main/REF-automate-snowflake-task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FDC2-13BE-5853-302D-045BFE1D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369332"/>
          </a:xfrm>
        </p:spPr>
        <p:txBody>
          <a:bodyPr/>
          <a:lstStyle/>
          <a:p>
            <a:r>
              <a:rPr lang="en-US" sz="2400" dirty="0"/>
              <a:t>Weekly Finance Dashboard Automation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ED6F9-F2B1-B947-52D3-98C15FBA26A7}"/>
              </a:ext>
            </a:extLst>
          </p:cNvPr>
          <p:cNvSpPr txBox="1"/>
          <p:nvPr/>
        </p:nvSpPr>
        <p:spPr>
          <a:xfrm>
            <a:off x="304800" y="454117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From Manual Excel to Orchestrated Snowflake + Tableau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CF8C5-B5AC-0547-9D60-BC642FC8C81C}"/>
              </a:ext>
            </a:extLst>
          </p:cNvPr>
          <p:cNvSpPr txBox="1"/>
          <p:nvPr/>
        </p:nvSpPr>
        <p:spPr>
          <a:xfrm>
            <a:off x="228600" y="2569811"/>
            <a:ext cx="8053675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From Manual Excel to Orchestrated Snowflake + Tableau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4E0F6-1932-D748-0A0D-4AA3D41D9E0B}"/>
              </a:ext>
            </a:extLst>
          </p:cNvPr>
          <p:cNvSpPr txBox="1"/>
          <p:nvPr/>
        </p:nvSpPr>
        <p:spPr>
          <a:xfrm>
            <a:off x="228600" y="5187504"/>
            <a:ext cx="5431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Tanya Kray</a:t>
            </a:r>
            <a:br>
              <a:rPr lang="en-US" dirty="0"/>
            </a:br>
            <a:r>
              <a:rPr lang="en-US" dirty="0"/>
              <a:t>Data Analytics Team</a:t>
            </a:r>
          </a:p>
          <a:p>
            <a:r>
              <a:rPr lang="en-US" dirty="0"/>
              <a:t>02/17/2026</a:t>
            </a:r>
          </a:p>
        </p:txBody>
      </p:sp>
    </p:spTree>
    <p:extLst>
      <p:ext uri="{BB962C8B-B14F-4D97-AF65-F5344CB8AC3E}">
        <p14:creationId xmlns:p14="http://schemas.microsoft.com/office/powerpoint/2010/main" val="1029050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8783A-FF7C-BB23-829E-E3E145245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77AE-261D-ADB1-23F6-F579F255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Why We Automated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88F220-3C26-B66E-DD7D-4595DACAA993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41514" y="1379783"/>
            <a:ext cx="42947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Business-critical weekly reporting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Excel-based process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2–4 hours of effort each week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KPI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dependency on manual updates</a:t>
            </a:r>
          </a:p>
        </p:txBody>
      </p:sp>
    </p:spTree>
    <p:extLst>
      <p:ext uri="{BB962C8B-B14F-4D97-AF65-F5344CB8AC3E}">
        <p14:creationId xmlns:p14="http://schemas.microsoft.com/office/powerpoint/2010/main" val="68668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4B05-5149-F5CC-2A58-0B940F49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Before: Manual Excel-Based Weekly Reporting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F733-4457-A025-6EFE-6B0B8CA27A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Current Excel Dashboard  - Caseload</a:t>
            </a:r>
          </a:p>
          <a:p>
            <a:endParaRPr lang="en-US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5E0E0A1-3A9B-3BEB-8832-91A88CFCA93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28600" y="1447800"/>
            <a:ext cx="6555658" cy="480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115157-ED8C-559C-E13B-C7A693A2A3B1}"/>
              </a:ext>
            </a:extLst>
          </p:cNvPr>
          <p:cNvSpPr txBox="1"/>
          <p:nvPr/>
        </p:nvSpPr>
        <p:spPr>
          <a:xfrm>
            <a:off x="6971071" y="2428568"/>
            <a:ext cx="202052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• Manual data extracts from multiple source systems</a:t>
            </a:r>
          </a:p>
          <a:p>
            <a:endParaRPr lang="en-US" sz="1100" dirty="0"/>
          </a:p>
          <a:p>
            <a:r>
              <a:rPr lang="en-US" sz="1100" dirty="0"/>
              <a:t>• Weekly rolling date logic updated manually</a:t>
            </a:r>
          </a:p>
          <a:p>
            <a:br>
              <a:rPr lang="en-US" sz="1100" dirty="0"/>
            </a:br>
            <a:r>
              <a:rPr lang="en-US" sz="1100" dirty="0"/>
              <a:t>• KPI calculations embedded in Excel formulas</a:t>
            </a:r>
          </a:p>
          <a:p>
            <a:br>
              <a:rPr lang="en-US" sz="1100" dirty="0"/>
            </a:br>
            <a:r>
              <a:rPr lang="en-US" sz="1100" dirty="0"/>
              <a:t>• No centralized version control or audit trail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Person-dependent, manual reporting process</a:t>
            </a:r>
          </a:p>
        </p:txBody>
      </p:sp>
    </p:spTree>
    <p:extLst>
      <p:ext uri="{BB962C8B-B14F-4D97-AF65-F5344CB8AC3E}">
        <p14:creationId xmlns:p14="http://schemas.microsoft.com/office/powerpoint/2010/main" val="72949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B3C8-07FE-E086-8C60-46DC10BE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After: Automated Snowflake + Tableau Workflow</a:t>
            </a:r>
          </a:p>
        </p:txBody>
      </p:sp>
      <p:pic>
        <p:nvPicPr>
          <p:cNvPr id="5" name="Picture 4" descr="Graphical user interface, website&#10;&#10;AI-generated content may be incorrect.">
            <a:extLst>
              <a:ext uri="{FF2B5EF4-FFF2-40B4-BE49-F238E27FC236}">
                <a16:creationId xmlns:a16="http://schemas.microsoft.com/office/drawing/2014/main" id="{EFC392E5-A2EA-4265-3BE1-944CE087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007"/>
            <a:ext cx="9144000" cy="452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3B19B-AFA3-44C4-6B1C-61681667A047}"/>
              </a:ext>
            </a:extLst>
          </p:cNvPr>
          <p:cNvSpPr txBox="1"/>
          <p:nvPr/>
        </p:nvSpPr>
        <p:spPr>
          <a:xfrm>
            <a:off x="140042" y="5230761"/>
            <a:ext cx="42775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</a:t>
            </a:r>
            <a:r>
              <a:rPr lang="en-US" sz="1000" dirty="0"/>
              <a:t>Data generated by Snowflake stored procedures</a:t>
            </a:r>
            <a:br>
              <a:rPr lang="en-US" sz="1000" dirty="0"/>
            </a:br>
            <a:r>
              <a:rPr lang="en-US" sz="1000" dirty="0"/>
              <a:t>• Business-week logic calculated dynamically (Fri–Thu)</a:t>
            </a:r>
            <a:br>
              <a:rPr lang="en-US" sz="1000" dirty="0"/>
            </a:br>
            <a:r>
              <a:rPr lang="en-US" sz="1000" dirty="0"/>
              <a:t>• KPI logic centralized in SQL (not Excel formulas)</a:t>
            </a:r>
            <a:br>
              <a:rPr lang="en-US" sz="1000" dirty="0"/>
            </a:br>
            <a:r>
              <a:rPr lang="en-US" sz="1000" dirty="0"/>
              <a:t>• Task scheduled via CRON (6 AM UTC)</a:t>
            </a:r>
            <a:br>
              <a:rPr lang="en-US" sz="1000" dirty="0"/>
            </a:br>
            <a:r>
              <a:rPr lang="en-US" sz="1000" dirty="0"/>
              <a:t>• Tableau extract refresh triggered after ETL</a:t>
            </a:r>
            <a:br>
              <a:rPr lang="en-US" sz="1000" dirty="0"/>
            </a:br>
            <a:r>
              <a:rPr lang="en-US" sz="1000" dirty="0"/>
              <a:t>• Automated 9:00 AM subscription delivery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5B0C5-55E0-91BA-20FA-5AA3D7813204}"/>
              </a:ext>
            </a:extLst>
          </p:cNvPr>
          <p:cNvSpPr txBox="1"/>
          <p:nvPr/>
        </p:nvSpPr>
        <p:spPr>
          <a:xfrm>
            <a:off x="4557664" y="5223874"/>
            <a:ext cx="44462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“Total MH calculated in Snowflake (no Tableau logic required)”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“Adds and Terms calculated separately for transparency”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“All reporting tables pre-aggregated for Tableau consumption” </a:t>
            </a:r>
          </a:p>
        </p:txBody>
      </p:sp>
    </p:spTree>
    <p:extLst>
      <p:ext uri="{BB962C8B-B14F-4D97-AF65-F5344CB8AC3E}">
        <p14:creationId xmlns:p14="http://schemas.microsoft.com/office/powerpoint/2010/main" val="3583187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194A-EF6B-E98E-1CB7-1AA4BCA2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98E4-617B-FB3C-5CF6-FF5D0283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Execution Flow &amp; Dependency Control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61CA75-74C1-4319-1556-DE51FD9863BA}"/>
              </a:ext>
            </a:extLst>
          </p:cNvPr>
          <p:cNvSpPr/>
          <p:nvPr/>
        </p:nvSpPr>
        <p:spPr bwMode="auto">
          <a:xfrm>
            <a:off x="287383" y="2623457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Snowflake Task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DC5AAA-F0E1-83FD-A345-1198187AB02D}"/>
              </a:ext>
            </a:extLst>
          </p:cNvPr>
          <p:cNvSpPr/>
          <p:nvPr/>
        </p:nvSpPr>
        <p:spPr bwMode="auto">
          <a:xfrm>
            <a:off x="1763486" y="262345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Master Procedure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CD82E0-CB07-CF0C-9FF1-2DAC65623E94}"/>
              </a:ext>
            </a:extLst>
          </p:cNvPr>
          <p:cNvSpPr/>
          <p:nvPr/>
        </p:nvSpPr>
        <p:spPr bwMode="auto">
          <a:xfrm>
            <a:off x="3239589" y="2623455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Modular Stored Procedures (10+)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6DF86B-19E2-39AD-C41C-DF503DE604C5}"/>
              </a:ext>
            </a:extLst>
          </p:cNvPr>
          <p:cNvSpPr/>
          <p:nvPr/>
        </p:nvSpPr>
        <p:spPr bwMode="auto">
          <a:xfrm>
            <a:off x="4715692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Success / Failure Email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8D94066-80DC-90A0-E426-B31B42D1C721}"/>
              </a:ext>
            </a:extLst>
          </p:cNvPr>
          <p:cNvSpPr/>
          <p:nvPr/>
        </p:nvSpPr>
        <p:spPr bwMode="auto">
          <a:xfrm>
            <a:off x="6191795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Tableau Extract Refresh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4620A4-E7D6-753B-44E7-FBEE64F76E70}"/>
              </a:ext>
            </a:extLst>
          </p:cNvPr>
          <p:cNvSpPr/>
          <p:nvPr/>
        </p:nvSpPr>
        <p:spPr bwMode="auto">
          <a:xfrm>
            <a:off x="7667898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9:00 AM Subscription Delivery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6A99BAA-FDBD-A778-8AFC-D1FBA3CBCCF0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 flipV="1">
            <a:off x="1476103" y="3034936"/>
            <a:ext cx="287383" cy="1"/>
          </a:xfrm>
          <a:prstGeom prst="bentConnector3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598B0D3-8BD2-6313-C21B-A12D8E4EFD5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952206" y="3034935"/>
            <a:ext cx="287383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2814DDA-E23E-F354-1C8C-4487B1A4BC68}"/>
              </a:ext>
            </a:extLst>
          </p:cNvPr>
          <p:cNvCxnSpPr>
            <a:cxnSpLocks/>
          </p:cNvCxnSpPr>
          <p:nvPr/>
        </p:nvCxnSpPr>
        <p:spPr>
          <a:xfrm flipV="1">
            <a:off x="4353290" y="3045267"/>
            <a:ext cx="392308" cy="1"/>
          </a:xfrm>
          <a:prstGeom prst="bentConnector3">
            <a:avLst>
              <a:gd name="adj1" fmla="val 4771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812D2DC-F846-1F55-189E-05BCB53CB521}"/>
              </a:ext>
            </a:extLst>
          </p:cNvPr>
          <p:cNvCxnSpPr>
            <a:cxnSpLocks/>
          </p:cNvCxnSpPr>
          <p:nvPr/>
        </p:nvCxnSpPr>
        <p:spPr>
          <a:xfrm flipV="1">
            <a:off x="5823565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3216BCFC-2C35-9721-0CA1-527DDF4523E9}"/>
              </a:ext>
            </a:extLst>
          </p:cNvPr>
          <p:cNvCxnSpPr>
            <a:cxnSpLocks/>
          </p:cNvCxnSpPr>
          <p:nvPr/>
        </p:nvCxnSpPr>
        <p:spPr>
          <a:xfrm flipV="1">
            <a:off x="7282972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789551C-D501-F36D-4F23-89F1A2BBD1D5}"/>
              </a:ext>
            </a:extLst>
          </p:cNvPr>
          <p:cNvSpPr txBox="1"/>
          <p:nvPr/>
        </p:nvSpPr>
        <p:spPr>
          <a:xfrm>
            <a:off x="2196353" y="4222376"/>
            <a:ext cx="57015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Single execution entry point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Step-level logging via RESULT_SCAN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Fail-fast behavior (RAISE)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Tableau refresh triggered only after ETL completion</a:t>
            </a:r>
          </a:p>
        </p:txBody>
      </p:sp>
    </p:spTree>
    <p:extLst>
      <p:ext uri="{BB962C8B-B14F-4D97-AF65-F5344CB8AC3E}">
        <p14:creationId xmlns:p14="http://schemas.microsoft.com/office/powerpoint/2010/main" val="400697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16B6-C38F-1AB5-FE78-C1DF1E5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9DBC-0B8D-9001-90D0-9A7096D5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Previous Process – Manual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11F2F6-F1C9-656F-DBA1-122503CA4B01}"/>
              </a:ext>
            </a:extLst>
          </p:cNvPr>
          <p:cNvSpPr/>
          <p:nvPr/>
        </p:nvSpPr>
        <p:spPr bwMode="auto">
          <a:xfrm>
            <a:off x="287383" y="2623457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Export Data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78F0EB-98A3-B010-9615-C47285C685E7}"/>
              </a:ext>
            </a:extLst>
          </p:cNvPr>
          <p:cNvSpPr/>
          <p:nvPr/>
        </p:nvSpPr>
        <p:spPr bwMode="auto">
          <a:xfrm>
            <a:off x="1763486" y="262345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Update Excel File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4A8954-3B13-56AD-F9B5-A86D7FC02FE7}"/>
              </a:ext>
            </a:extLst>
          </p:cNvPr>
          <p:cNvSpPr/>
          <p:nvPr/>
        </p:nvSpPr>
        <p:spPr bwMode="auto">
          <a:xfrm>
            <a:off x="3239589" y="2623455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Adjust Rolling Dates</a:t>
            </a: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0A57DC-5407-1540-C11A-08F20FA539BC}"/>
              </a:ext>
            </a:extLst>
          </p:cNvPr>
          <p:cNvSpPr/>
          <p:nvPr/>
        </p:nvSpPr>
        <p:spPr bwMode="auto">
          <a:xfrm>
            <a:off x="4715692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Recalculate KPIs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2BC75B-B61D-2FF8-1EDC-A8E0416EFA65}"/>
              </a:ext>
            </a:extLst>
          </p:cNvPr>
          <p:cNvSpPr/>
          <p:nvPr/>
        </p:nvSpPr>
        <p:spPr bwMode="auto">
          <a:xfrm>
            <a:off x="6191795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Validate Results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235A1B-32EF-DC4D-B7AD-16A9D4DCCED3}"/>
              </a:ext>
            </a:extLst>
          </p:cNvPr>
          <p:cNvSpPr/>
          <p:nvPr/>
        </p:nvSpPr>
        <p:spPr bwMode="auto">
          <a:xfrm>
            <a:off x="7667898" y="2642496"/>
            <a:ext cx="1188720" cy="82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/>
              <a:t>Email Report</a:t>
            </a:r>
            <a:br>
              <a:rPr lang="en-US" sz="1000" dirty="0"/>
            </a:br>
            <a:endParaRPr lang="en-US" sz="10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47FFFAF-5DCA-4076-EE6E-9E64DDF87043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 flipV="1">
            <a:off x="1476103" y="3034936"/>
            <a:ext cx="287383" cy="1"/>
          </a:xfrm>
          <a:prstGeom prst="bentConnector3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30D922A-4DF9-C58A-D275-246EA14D25A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2952206" y="3034935"/>
            <a:ext cx="287383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E989F27-B9AF-57C1-2C13-EBF6659444BC}"/>
              </a:ext>
            </a:extLst>
          </p:cNvPr>
          <p:cNvCxnSpPr>
            <a:cxnSpLocks/>
          </p:cNvCxnSpPr>
          <p:nvPr/>
        </p:nvCxnSpPr>
        <p:spPr>
          <a:xfrm flipV="1">
            <a:off x="4353290" y="3045267"/>
            <a:ext cx="392308" cy="1"/>
          </a:xfrm>
          <a:prstGeom prst="bentConnector3">
            <a:avLst>
              <a:gd name="adj1" fmla="val 4771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C416BBF-2BB5-8322-6D66-AFB2D812DF27}"/>
              </a:ext>
            </a:extLst>
          </p:cNvPr>
          <p:cNvCxnSpPr>
            <a:cxnSpLocks/>
          </p:cNvCxnSpPr>
          <p:nvPr/>
        </p:nvCxnSpPr>
        <p:spPr>
          <a:xfrm flipV="1">
            <a:off x="5823565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327EE66-4B28-DD66-C698-38D72590EC15}"/>
              </a:ext>
            </a:extLst>
          </p:cNvPr>
          <p:cNvCxnSpPr>
            <a:cxnSpLocks/>
          </p:cNvCxnSpPr>
          <p:nvPr/>
        </p:nvCxnSpPr>
        <p:spPr>
          <a:xfrm flipV="1">
            <a:off x="7282972" y="3045267"/>
            <a:ext cx="392308" cy="1"/>
          </a:xfrm>
          <a:prstGeom prst="bentConnector3">
            <a:avLst>
              <a:gd name="adj1" fmla="val 29434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482781C-7A7B-2E32-9B3C-C158614154AB}"/>
              </a:ext>
            </a:extLst>
          </p:cNvPr>
          <p:cNvSpPr txBox="1"/>
          <p:nvPr/>
        </p:nvSpPr>
        <p:spPr>
          <a:xfrm>
            <a:off x="2196353" y="4222376"/>
            <a:ext cx="5701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Manual intervention is required at every step</a:t>
            </a:r>
          </a:p>
        </p:txBody>
      </p:sp>
    </p:spTree>
    <p:extLst>
      <p:ext uri="{BB962C8B-B14F-4D97-AF65-F5344CB8AC3E}">
        <p14:creationId xmlns:p14="http://schemas.microsoft.com/office/powerpoint/2010/main" val="398608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157E-7E58-9BCC-92B2-056994C5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Logic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7B457-8248-53BD-D11B-4807FF103F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Weekly Snapshot</a:t>
            </a:r>
            <a:endParaRPr lang="en-US" dirty="0"/>
          </a:p>
          <a:p>
            <a:r>
              <a:rPr lang="en-US" dirty="0"/>
              <a:t>Based on most recent Saturday </a:t>
            </a:r>
          </a:p>
          <a:p>
            <a:r>
              <a:rPr lang="en-US" dirty="0"/>
              <a:t>Includes active members only </a:t>
            </a:r>
          </a:p>
          <a:p>
            <a:r>
              <a:rPr lang="en-US" dirty="0"/>
              <a:t>Uses eligibility effective/end date logic </a:t>
            </a:r>
          </a:p>
          <a:p>
            <a:r>
              <a:rPr lang="en-US" b="1" dirty="0"/>
              <a:t>Caseload</a:t>
            </a:r>
            <a:endParaRPr lang="en-US" dirty="0"/>
          </a:p>
          <a:p>
            <a:r>
              <a:rPr lang="en-US" dirty="0"/>
              <a:t>Calculated across: </a:t>
            </a:r>
          </a:p>
          <a:p>
            <a:pPr lvl="1"/>
            <a:r>
              <a:rPr lang="en-US" dirty="0"/>
              <a:t>Demographic </a:t>
            </a:r>
          </a:p>
          <a:p>
            <a:pPr lvl="1"/>
            <a:r>
              <a:rPr lang="en-US" dirty="0"/>
              <a:t>Plan Type </a:t>
            </a:r>
          </a:p>
          <a:p>
            <a:pPr lvl="1"/>
            <a:r>
              <a:rPr lang="en-US" dirty="0"/>
              <a:t>Benefits </a:t>
            </a:r>
          </a:p>
          <a:p>
            <a:r>
              <a:rPr lang="en-US" b="1" dirty="0"/>
              <a:t>Reporting Structure</a:t>
            </a:r>
            <a:endParaRPr lang="en-US" dirty="0"/>
          </a:p>
          <a:p>
            <a:r>
              <a:rPr lang="en-US" dirty="0"/>
              <a:t>Outputs standardized into reporting tables </a:t>
            </a:r>
          </a:p>
          <a:p>
            <a:r>
              <a:rPr lang="en-US" dirty="0"/>
              <a:t>Categories aligned using crosswalk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5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BDD0A-CDAA-DBA3-033F-C98930B0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D69F-93E1-97D7-E5AD-5600DEF5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Task Scheduling + Dynamic Date Logic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73398-2B7E-4D8E-8DF8-A66055FA156F}"/>
              </a:ext>
            </a:extLst>
          </p:cNvPr>
          <p:cNvSpPr txBox="1"/>
          <p:nvPr/>
        </p:nvSpPr>
        <p:spPr>
          <a:xfrm>
            <a:off x="228600" y="2307329"/>
            <a:ext cx="4579374" cy="181588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Task:</a:t>
            </a:r>
          </a:p>
          <a:p>
            <a:endParaRPr lang="en-US" sz="1400" dirty="0"/>
          </a:p>
          <a:p>
            <a:r>
              <a:rPr lang="en-US" sz="1400" dirty="0"/>
              <a:t>CREATE OR REPLACE TASK MHTEAM.MHA.BUDGET_WEEKLY_SP  WAREHOUSE = MHA_WH  SCHEDULE  = 'USING CRON 0 6 * * 4 UTC'AS  CALL MHTEAM.MHA.BUDGET_WEEKLY_MASTER_SP();</a:t>
            </a:r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607D02-7B82-6D0F-7215-750187918E00}"/>
              </a:ext>
            </a:extLst>
          </p:cNvPr>
          <p:cNvSpPr txBox="1"/>
          <p:nvPr/>
        </p:nvSpPr>
        <p:spPr>
          <a:xfrm>
            <a:off x="376084" y="4822721"/>
            <a:ext cx="23204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Runs weekly via CRON</a:t>
            </a:r>
            <a:br>
              <a:rPr lang="en-US" sz="1000" dirty="0"/>
            </a:br>
            <a:r>
              <a:rPr lang="en-US" sz="1000" dirty="0"/>
              <a:t>• Uses dedicated warehouse</a:t>
            </a:r>
            <a:br>
              <a:rPr lang="en-US" sz="1000" dirty="0"/>
            </a:br>
            <a:r>
              <a:rPr lang="en-US" sz="1000" dirty="0"/>
              <a:t>• Calls single orchestration entry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A8A8E-5986-B622-B39D-08D6DE867F94}"/>
              </a:ext>
            </a:extLst>
          </p:cNvPr>
          <p:cNvSpPr txBox="1"/>
          <p:nvPr/>
        </p:nvSpPr>
        <p:spPr>
          <a:xfrm>
            <a:off x="5034116" y="2307329"/>
            <a:ext cx="3881284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Dynamic Date Logic (Business Week: Fri–Thu)</a:t>
            </a:r>
          </a:p>
          <a:p>
            <a:endParaRPr lang="en-US" sz="1400" dirty="0"/>
          </a:p>
          <a:p>
            <a:r>
              <a:rPr lang="en-US" sz="1400" dirty="0"/>
              <a:t>SET week_end_date =  DATEADD(    day,    -MOD(DATE_PART('DOW', CURRENT_DATE()) - 4 + 7, 7),    CURRENT_DATE()  );SET week_start_date =  DATEADD(day, -6, :week_end_date);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2E213-B465-BD5A-8380-908D15D1B317}"/>
              </a:ext>
            </a:extLst>
          </p:cNvPr>
          <p:cNvSpPr txBox="1"/>
          <p:nvPr/>
        </p:nvSpPr>
        <p:spPr>
          <a:xfrm>
            <a:off x="5223389" y="4899665"/>
            <a:ext cx="25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Example run date:</a:t>
            </a:r>
            <a:r>
              <a:rPr lang="en-US" sz="1000" dirty="0"/>
              <a:t> 2026-02-13 (Fri)</a:t>
            </a:r>
            <a:br>
              <a:rPr lang="en-US" sz="1000" dirty="0"/>
            </a:br>
            <a:r>
              <a:rPr lang="en-US" sz="1000" b="1" dirty="0"/>
              <a:t>Window:</a:t>
            </a:r>
            <a:r>
              <a:rPr lang="en-US" sz="1000" dirty="0"/>
              <a:t> 2026-02-06 → 2026-02-12</a:t>
            </a:r>
          </a:p>
        </p:txBody>
      </p:sp>
    </p:spTree>
    <p:extLst>
      <p:ext uri="{BB962C8B-B14F-4D97-AF65-F5344CB8AC3E}">
        <p14:creationId xmlns:p14="http://schemas.microsoft.com/office/powerpoint/2010/main" val="92311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0987-48E0-4730-DFC4-FA50B261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EF57-D5EC-1453-269D-619AA1EB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Master Procedure – Orchestration + Notifications (Part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21AC4-B94E-1DC5-2C20-D52523B84CC9}"/>
              </a:ext>
            </a:extLst>
          </p:cNvPr>
          <p:cNvSpPr txBox="1"/>
          <p:nvPr/>
        </p:nvSpPr>
        <p:spPr>
          <a:xfrm>
            <a:off x="77311" y="822083"/>
            <a:ext cx="764065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CREATE OR REPLACE PROCEDURE MHTEAM.MHA.BUDGET_WEEKLY_MASTER_SP()</a:t>
            </a:r>
          </a:p>
          <a:p>
            <a:r>
              <a:rPr lang="en-US" sz="900" dirty="0"/>
              <a:t>RETURNS VARCHAR</a:t>
            </a:r>
          </a:p>
          <a:p>
            <a:r>
              <a:rPr lang="en-US" sz="900" dirty="0"/>
              <a:t>LANGUAGE SQL</a:t>
            </a:r>
          </a:p>
          <a:p>
            <a:r>
              <a:rPr lang="en-US" sz="900" dirty="0"/>
              <a:t>EXECUTE AS OWNER</a:t>
            </a:r>
          </a:p>
          <a:p>
            <a:r>
              <a:rPr lang="en-US" sz="900" dirty="0"/>
              <a:t>AS</a:t>
            </a:r>
          </a:p>
          <a:p>
            <a:r>
              <a:rPr lang="en-US" sz="900" dirty="0"/>
              <a:t>$$</a:t>
            </a:r>
          </a:p>
          <a:p>
            <a:r>
              <a:rPr lang="en-US" sz="900" dirty="0"/>
              <a:t>DECLARE</a:t>
            </a:r>
          </a:p>
          <a:p>
            <a:r>
              <a:rPr lang="en-US" sz="900" dirty="0"/>
              <a:t>  out_msg STRING DEFAULT '';</a:t>
            </a:r>
          </a:p>
          <a:p>
            <a:r>
              <a:rPr lang="en-US" sz="900" dirty="0"/>
              <a:t>  one_msg STRING;</a:t>
            </a:r>
          </a:p>
          <a:p>
            <a:r>
              <a:rPr lang="en-US" sz="900" dirty="0"/>
              <a:t>BEGIN</a:t>
            </a:r>
          </a:p>
          <a:p>
            <a:r>
              <a:rPr lang="en-US" sz="900" dirty="0"/>
              <a:t>  /* MAIN PIPELINE */</a:t>
            </a:r>
          </a:p>
          <a:p>
            <a:endParaRPr lang="en-US" sz="900" dirty="0"/>
          </a:p>
          <a:p>
            <a:r>
              <a:rPr lang="en-US" sz="900" dirty="0"/>
              <a:t>  CALL MHTEAM.MHA.BUDGET_WEEKLY_SNAPSHOT_L();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 CALL MHTEAM.MHA.BUDGET_WEEKLY_CASELOAD_DEMOGRAPHIC_L();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 CALL MHTEAM.MHA.BUDGET_WEEKLY_CASELOAD_PLANTYPE_L();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CALL MHTEAM.MHA.BUDGET_WEEKLY_CASELOAD_BENEFIT_L();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</a:t>
            </a:r>
          </a:p>
          <a:p>
            <a:r>
              <a:rPr lang="en-US" sz="900" dirty="0"/>
              <a:t>  CALL MHTEAM.MHA.BUDGET_WEEKLY_ADDS_DEMOGRAPHIC_L();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r>
              <a:rPr lang="en-US" sz="900" dirty="0"/>
              <a:t>  </a:t>
            </a:r>
          </a:p>
          <a:p>
            <a:r>
              <a:rPr lang="en-US" sz="900" dirty="0"/>
              <a:t>  CALL MHTEAM.MHA.BUDGET_WEEKLY_ADDS_PLANTYPE_L();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CALL MHTEAM.MHA.BUDGET_WEEKLY_ADDS_BENEFITS_L();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37B9A-50CA-8970-FF9D-7A4991D64C4B}"/>
              </a:ext>
            </a:extLst>
          </p:cNvPr>
          <p:cNvSpPr txBox="1"/>
          <p:nvPr/>
        </p:nvSpPr>
        <p:spPr>
          <a:xfrm>
            <a:off x="6823587" y="2079522"/>
            <a:ext cx="23204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• Modular orchestration (10+ child procedures)</a:t>
            </a:r>
          </a:p>
          <a:p>
            <a:br>
              <a:rPr lang="en-US" sz="1000" dirty="0"/>
            </a:br>
            <a:r>
              <a:rPr lang="en-US" sz="1000" dirty="0"/>
              <a:t>• Single execution entry point</a:t>
            </a:r>
          </a:p>
          <a:p>
            <a:br>
              <a:rPr lang="en-US" sz="1000" dirty="0"/>
            </a:br>
            <a:r>
              <a:rPr lang="en-US" sz="1000" dirty="0"/>
              <a:t>• Step-level logging via</a:t>
            </a:r>
          </a:p>
          <a:p>
            <a:r>
              <a:rPr lang="en-US" sz="1000" dirty="0"/>
              <a:t> RESULT_SCAN()</a:t>
            </a:r>
          </a:p>
          <a:p>
            <a:br>
              <a:rPr lang="en-US" sz="1000" dirty="0"/>
            </a:br>
            <a:r>
              <a:rPr lang="en-US" sz="1000" dirty="0"/>
              <a:t>• Automated success &amp; failure notifications</a:t>
            </a:r>
          </a:p>
          <a:p>
            <a:br>
              <a:rPr lang="en-US" sz="1000" dirty="0"/>
            </a:br>
            <a:r>
              <a:rPr lang="en-US" sz="1000" dirty="0"/>
              <a:t>• Fail-fast exception handling (RAISE;)</a:t>
            </a:r>
          </a:p>
        </p:txBody>
      </p:sp>
    </p:spTree>
    <p:extLst>
      <p:ext uri="{BB962C8B-B14F-4D97-AF65-F5344CB8AC3E}">
        <p14:creationId xmlns:p14="http://schemas.microsoft.com/office/powerpoint/2010/main" val="280112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C4A3-F90C-A562-C16A-8F3E1E6F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AE55-EFC1-BA97-54C6-9ECC6D37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Master Procedure – Orchestration + Notifications (Part 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7BC78-4D24-44D8-E1DA-B7A40D5A20B5}"/>
              </a:ext>
            </a:extLst>
          </p:cNvPr>
          <p:cNvSpPr txBox="1"/>
          <p:nvPr/>
        </p:nvSpPr>
        <p:spPr>
          <a:xfrm>
            <a:off x="77312" y="822082"/>
            <a:ext cx="6628288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 CALL MHTEAM.MHA.BUDGET_WEEKLY_TERMS_ALL_L();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CALL MHTEAM.MHA.BUDGET_WEEKLY_REFRESH_CHANGES2_L();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r>
              <a:rPr lang="en-US" sz="900" dirty="0"/>
              <a:t>  </a:t>
            </a:r>
          </a:p>
          <a:p>
            <a:r>
              <a:rPr lang="en-US" sz="900" dirty="0"/>
              <a:t>  CALL MHTEAM.MHA.BUDGET_WEEKLY_REFRESH_CASELOAD_L();</a:t>
            </a:r>
          </a:p>
          <a:p>
            <a:r>
              <a:rPr lang="en-US" sz="900" dirty="0"/>
              <a:t>  SELECT $1 INTO :one_msg FROM TABLE(RESULT_SCAN(LAST_QUERY_ID())); out_msg := out_msg || one_msg || '\n';</a:t>
            </a:r>
          </a:p>
          <a:p>
            <a:endParaRPr lang="en-US" sz="900" dirty="0"/>
          </a:p>
          <a:p>
            <a:r>
              <a:rPr lang="en-US" sz="900" dirty="0"/>
              <a:t>  /* SUCCESS NOTIFICATION */</a:t>
            </a:r>
          </a:p>
          <a:p>
            <a:r>
              <a:rPr lang="en-US" sz="900" dirty="0"/>
              <a:t>  CALL SYSTEM$SEND_EMAIL(</a:t>
            </a:r>
          </a:p>
          <a:p>
            <a:r>
              <a:rPr lang="en-US" sz="900" dirty="0"/>
              <a:t>    'MHA_EMAIL_INT',</a:t>
            </a:r>
          </a:p>
          <a:p>
            <a:r>
              <a:rPr lang="en-US" sz="900" dirty="0"/>
              <a:t>    'tatyana.kray@mass.gov',</a:t>
            </a:r>
          </a:p>
          <a:p>
            <a:r>
              <a:rPr lang="en-US" sz="900" dirty="0"/>
              <a:t>    'Weekly Budget Pipeline Completed',</a:t>
            </a:r>
          </a:p>
          <a:p>
            <a:r>
              <a:rPr lang="en-US" sz="900" dirty="0"/>
              <a:t>    out_msg</a:t>
            </a:r>
          </a:p>
          <a:p>
            <a:r>
              <a:rPr lang="en-US" sz="900" dirty="0"/>
              <a:t>  );</a:t>
            </a:r>
          </a:p>
          <a:p>
            <a:r>
              <a:rPr lang="en-US" sz="900" dirty="0"/>
              <a:t>  RETURN out_msg;</a:t>
            </a:r>
          </a:p>
          <a:p>
            <a:endParaRPr lang="en-US" sz="900" dirty="0"/>
          </a:p>
          <a:p>
            <a:r>
              <a:rPr lang="en-US" sz="900" dirty="0"/>
              <a:t>EXCEPTION</a:t>
            </a:r>
          </a:p>
          <a:p>
            <a:r>
              <a:rPr lang="en-US" sz="900" dirty="0"/>
              <a:t>  WHEN OTHER THEN</a:t>
            </a:r>
          </a:p>
          <a:p>
            <a:r>
              <a:rPr lang="en-US" sz="900" dirty="0"/>
              <a:t>    /* FAILURE NOTIFICATION */</a:t>
            </a:r>
          </a:p>
          <a:p>
            <a:r>
              <a:rPr lang="en-US" sz="900" dirty="0"/>
              <a:t>    CALL SYSTEM$SEND_EMAIL(</a:t>
            </a:r>
          </a:p>
          <a:p>
            <a:r>
              <a:rPr lang="en-US" sz="900" dirty="0"/>
              <a:t>      'MHA_EMAIL_INT',</a:t>
            </a:r>
          </a:p>
          <a:p>
            <a:r>
              <a:rPr lang="en-US" sz="900" dirty="0"/>
              <a:t>      'tatyana.kray@mass.gov',</a:t>
            </a:r>
          </a:p>
          <a:p>
            <a:r>
              <a:rPr lang="en-US" sz="900" dirty="0"/>
              <a:t>      'Weekly Budget Pipeline FAILED',</a:t>
            </a:r>
          </a:p>
          <a:p>
            <a:r>
              <a:rPr lang="en-US" sz="900" dirty="0"/>
              <a:t>      'Error:\n' || ERROR_MESSAGE()</a:t>
            </a:r>
          </a:p>
          <a:p>
            <a:r>
              <a:rPr lang="en-US" sz="900" dirty="0"/>
              <a:t>    );</a:t>
            </a:r>
          </a:p>
          <a:p>
            <a:r>
              <a:rPr lang="en-US" sz="900" dirty="0"/>
              <a:t>    RAISE;</a:t>
            </a:r>
          </a:p>
          <a:p>
            <a:r>
              <a:rPr lang="en-US" sz="900" dirty="0"/>
              <a:t>END;</a:t>
            </a:r>
          </a:p>
          <a:p>
            <a:r>
              <a:rPr lang="en-US" sz="900" dirty="0"/>
              <a:t>$$;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56CF9-7B97-A3E9-EFEF-C5F4E0C5BCE3}"/>
              </a:ext>
            </a:extLst>
          </p:cNvPr>
          <p:cNvSpPr txBox="1"/>
          <p:nvPr/>
        </p:nvSpPr>
        <p:spPr>
          <a:xfrm>
            <a:off x="6823587" y="2079522"/>
            <a:ext cx="23204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Key Design Patterns</a:t>
            </a:r>
          </a:p>
          <a:p>
            <a:br>
              <a:rPr lang="en-US" sz="1000" dirty="0"/>
            </a:br>
            <a:r>
              <a:rPr lang="en-US" sz="1000" dirty="0"/>
              <a:t>• Success email includes full run log (out_msg)</a:t>
            </a:r>
          </a:p>
          <a:p>
            <a:br>
              <a:rPr lang="en-US" sz="1000" dirty="0"/>
            </a:br>
            <a:r>
              <a:rPr lang="en-US" sz="1000" dirty="0"/>
              <a:t>• Failure email includes ERROR_MESSAGE()</a:t>
            </a:r>
          </a:p>
          <a:p>
            <a:br>
              <a:rPr lang="en-US" sz="1000" dirty="0"/>
            </a:br>
            <a:r>
              <a:rPr lang="en-US" sz="1000" dirty="0"/>
              <a:t>• Fail-fast exception handling (RAISE;)</a:t>
            </a:r>
          </a:p>
          <a:p>
            <a:br>
              <a:rPr lang="en-US" sz="1000" dirty="0"/>
            </a:br>
            <a:r>
              <a:rPr lang="en-US" sz="1000" dirty="0"/>
              <a:t>• Operational visibility without manual checking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C4952-9820-FC89-60F2-D1C1A370B619}"/>
              </a:ext>
            </a:extLst>
          </p:cNvPr>
          <p:cNvSpPr txBox="1"/>
          <p:nvPr/>
        </p:nvSpPr>
        <p:spPr>
          <a:xfrm>
            <a:off x="228601" y="5420380"/>
            <a:ext cx="43434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*Note:</a:t>
            </a:r>
          </a:p>
          <a:p>
            <a:r>
              <a:rPr lang="en-US" sz="900" b="1" dirty="0"/>
              <a:t>Recent Enhancements Included in Pipeline:</a:t>
            </a:r>
            <a:endParaRPr lang="en-US" sz="900" dirty="0"/>
          </a:p>
          <a:p>
            <a:r>
              <a:rPr lang="en-US" sz="900" dirty="0"/>
              <a:t>Total MH calculation applied during aggregation </a:t>
            </a:r>
          </a:p>
          <a:p>
            <a:r>
              <a:rPr lang="en-US" sz="900" dirty="0"/>
              <a:t>Adds/Terms logic fully integrated into reporting layer </a:t>
            </a:r>
          </a:p>
          <a:p>
            <a:r>
              <a:rPr lang="en-US" sz="900" dirty="0"/>
              <a:t>Consolidated reporting tables refreshed post-processing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B96D8-8F2E-89B9-67A6-27EAEE6C64E5}"/>
              </a:ext>
            </a:extLst>
          </p:cNvPr>
          <p:cNvSpPr txBox="1"/>
          <p:nvPr/>
        </p:nvSpPr>
        <p:spPr>
          <a:xfrm>
            <a:off x="4737652" y="558517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/* Includes:</a:t>
            </a:r>
          </a:p>
          <a:p>
            <a:r>
              <a:rPr lang="en-US" sz="900" dirty="0"/>
              <a:t>   - Total MH logic</a:t>
            </a:r>
          </a:p>
          <a:p>
            <a:r>
              <a:rPr lang="en-US" sz="900" dirty="0"/>
              <a:t>   - Adds/Terms breakdown</a:t>
            </a:r>
          </a:p>
          <a:p>
            <a:r>
              <a:rPr lang="en-US" sz="900" dirty="0"/>
              <a:t>   - Consolidated table refresh</a:t>
            </a:r>
          </a:p>
          <a:p>
            <a:r>
              <a:rPr lang="en-US" dirty="0"/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21149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5D209-57FF-1FDD-E4BD-E79894C9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F6C3-1AF5-D5A2-86A6-1332781F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Automation Controls &amp; Governance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F2C467-7F49-3B17-5352-1E43A0A50AE5}"/>
              </a:ext>
            </a:extLst>
          </p:cNvPr>
          <p:cNvSpPr txBox="1"/>
          <p:nvPr/>
        </p:nvSpPr>
        <p:spPr>
          <a:xfrm>
            <a:off x="129989" y="1859340"/>
            <a:ext cx="4343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Upstream (Snowflake / ETL)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Master procedure orchestrates ETL </a:t>
            </a:r>
            <a:r>
              <a:rPr lang="en-US" dirty="0" err="1"/>
              <a:t>logicScheduled</a:t>
            </a:r>
            <a:r>
              <a:rPr lang="en-US" dirty="0"/>
              <a:t> via Snowflake Task (CRON)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Warehouse: MHA_WH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 / failure email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override available if needed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DD2F9-C9B8-9DCD-82E4-A197BF56A4CF}"/>
              </a:ext>
            </a:extLst>
          </p:cNvPr>
          <p:cNvSpPr txBox="1"/>
          <p:nvPr/>
        </p:nvSpPr>
        <p:spPr>
          <a:xfrm>
            <a:off x="4670611" y="1859340"/>
            <a:ext cx="434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Downstream (Tableau)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scheduled after ETL completion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Subscription delivery at 9:00 AM 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Failure alerts 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ownership (BI / Data Engineering)</a:t>
            </a:r>
          </a:p>
        </p:txBody>
      </p:sp>
    </p:spTree>
    <p:extLst>
      <p:ext uri="{BB962C8B-B14F-4D97-AF65-F5344CB8AC3E}">
        <p14:creationId xmlns:p14="http://schemas.microsoft.com/office/powerpoint/2010/main" val="329983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1C3A-6482-604E-9893-4BC8275A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DDB0-B29D-76F8-8211-E8F886C34A6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Core reporting tables used by Tableau:</a:t>
            </a:r>
          </a:p>
          <a:p>
            <a:r>
              <a:rPr lang="en-US" dirty="0"/>
              <a:t>BG_CASELOAD </a:t>
            </a:r>
          </a:p>
          <a:p>
            <a:r>
              <a:rPr lang="en-US" dirty="0"/>
              <a:t>BG_ADDS_* </a:t>
            </a:r>
          </a:p>
          <a:p>
            <a:r>
              <a:rPr lang="en-US" dirty="0"/>
              <a:t>BG_TERMS_* </a:t>
            </a:r>
          </a:p>
          <a:p>
            <a:r>
              <a:rPr lang="en-US" dirty="0"/>
              <a:t>BG_CHANGES 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Includes </a:t>
            </a:r>
            <a:r>
              <a:rPr lang="en-US" b="1" dirty="0"/>
              <a:t>Total MH category</a:t>
            </a:r>
            <a:r>
              <a:rPr lang="en-US" dirty="0"/>
              <a:t> </a:t>
            </a:r>
          </a:p>
          <a:p>
            <a:r>
              <a:rPr lang="en-US" dirty="0"/>
              <a:t>Pre-aggregated for Tableau performance </a:t>
            </a:r>
          </a:p>
          <a:p>
            <a:r>
              <a:rPr lang="en-US" dirty="0"/>
              <a:t>Standardized category ordering via crosswalk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33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59BF-BF44-B2F4-05A6-3A82851E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Enhancements to Weekly Finance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3070AF-CB1C-2748-E25C-E621CB1A30DC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228600" y="1419641"/>
            <a:ext cx="462642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MH (Total – Non-MH)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Eliminates manual subtraction in Tableau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Available across all reporting tabs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Weekly Changes Logic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 change now decomposed into: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Consolidated Reporting 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outputs for Tableau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consistency across views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Rerun-Safe Logic (MERGE)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duplicate weekly loads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safe reprocessing and backfills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065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57F7-EAF3-155D-0368-16817900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Changes (Adds &amp; Terms)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CB479-1361-7D18-7B8E-C9102D75956B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Members newly eligible compared to prior week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Members no longer eligible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 Change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Adds – Terms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 calculated in Snowflake (not Tableau)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consistent results across all dashboard tabs </a:t>
            </a:r>
          </a:p>
        </p:txBody>
      </p:sp>
    </p:spTree>
    <p:extLst>
      <p:ext uri="{BB962C8B-B14F-4D97-AF65-F5344CB8AC3E}">
        <p14:creationId xmlns:p14="http://schemas.microsoft.com/office/powerpoint/2010/main" val="245313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6A63-821F-6CEB-04AA-A1103422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1320-98E9-514C-665B-22A860F7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11273"/>
            <a:ext cx="8053675" cy="298327"/>
          </a:xfrm>
        </p:spPr>
        <p:txBody>
          <a:bodyPr/>
          <a:lstStyle/>
          <a:p>
            <a:r>
              <a:rPr lang="en-US" dirty="0"/>
              <a:t>Impact + Reusable Automation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C872D-26D3-CF90-0917-E9333679FAF4}"/>
              </a:ext>
            </a:extLst>
          </p:cNvPr>
          <p:cNvSpPr txBox="1"/>
          <p:nvPr/>
        </p:nvSpPr>
        <p:spPr>
          <a:xfrm>
            <a:off x="228600" y="2307329"/>
            <a:ext cx="4343400" cy="160043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• ~2–4 hours saved weekly</a:t>
            </a:r>
          </a:p>
          <a:p>
            <a:r>
              <a:rPr lang="en-US" sz="1400" dirty="0"/>
              <a:t>• 100% elimination of manual date rolling</a:t>
            </a:r>
          </a:p>
          <a:p>
            <a:r>
              <a:rPr lang="en-US" sz="1400" dirty="0"/>
              <a:t>• 0 manual exports from source systems</a:t>
            </a:r>
          </a:p>
          <a:p>
            <a:r>
              <a:rPr lang="en-US" sz="1400" dirty="0"/>
              <a:t>• KPIs centralized in Snowflake (no Excel formulas)</a:t>
            </a:r>
          </a:p>
          <a:p>
            <a:r>
              <a:rPr lang="en-US" sz="1400" dirty="0"/>
              <a:t>• Reduced operational &amp; audit risk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98DC9-352A-569D-A16A-9ABDBA0D1A22}"/>
              </a:ext>
            </a:extLst>
          </p:cNvPr>
          <p:cNvSpPr txBox="1"/>
          <p:nvPr/>
        </p:nvSpPr>
        <p:spPr>
          <a:xfrm>
            <a:off x="5034116" y="2307329"/>
            <a:ext cx="3881284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• Single orchestration entry point</a:t>
            </a:r>
          </a:p>
          <a:p>
            <a:r>
              <a:rPr lang="en-US" sz="1400" dirty="0"/>
              <a:t>• Modular stored procedure framework</a:t>
            </a:r>
          </a:p>
          <a:p>
            <a:r>
              <a:rPr lang="en-US" sz="1400" dirty="0"/>
              <a:t>• Dynamic business-week logic (no hardcoding)</a:t>
            </a:r>
          </a:p>
          <a:p>
            <a:r>
              <a:rPr lang="en-US" sz="1400" dirty="0"/>
              <a:t>• Built-in success / failure notifications</a:t>
            </a:r>
          </a:p>
          <a:p>
            <a:r>
              <a:rPr lang="en-US" sz="1400" dirty="0"/>
              <a:t>• Fail-fast execution model (RAISE)</a:t>
            </a:r>
          </a:p>
          <a:p>
            <a:r>
              <a:rPr lang="en-US" sz="1400" dirty="0"/>
              <a:t>• Easily extendable to new finance reports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690E3-FE87-A1B5-3C20-B7DCD775867F}"/>
              </a:ext>
            </a:extLst>
          </p:cNvPr>
          <p:cNvSpPr txBox="1"/>
          <p:nvPr/>
        </p:nvSpPr>
        <p:spPr>
          <a:xfrm>
            <a:off x="471948" y="4552335"/>
            <a:ext cx="78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From manual reporting → to controlled, auditable data engineering workflow</a:t>
            </a:r>
          </a:p>
        </p:txBody>
      </p:sp>
    </p:spTree>
    <p:extLst>
      <p:ext uri="{BB962C8B-B14F-4D97-AF65-F5344CB8AC3E}">
        <p14:creationId xmlns:p14="http://schemas.microsoft.com/office/powerpoint/2010/main" val="147784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6C4E-5FDA-7901-1DFC-445A41767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FF008-89DD-527A-B6E0-5F5A3620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45" y="234863"/>
            <a:ext cx="8053675" cy="338554"/>
          </a:xfrm>
        </p:spPr>
        <p:txBody>
          <a:bodyPr/>
          <a:lstStyle/>
          <a:p>
            <a:r>
              <a:rPr lang="en-US" sz="2200" dirty="0">
                <a:cs typeface="Arial"/>
              </a:rPr>
              <a:t>Reference links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B953-5B48-B597-36A4-A5B521F5C4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lIns="91440" tIns="45720" rIns="91440" bIns="45720" anchor="t"/>
          <a:lstStyle/>
          <a:p>
            <a:r>
              <a:rPr lang="en-US" sz="1400" b="1" dirty="0" err="1">
                <a:cs typeface="Arial"/>
              </a:rPr>
              <a:t>Github</a:t>
            </a:r>
            <a:r>
              <a:rPr lang="en-US" sz="1400" b="1" dirty="0">
                <a:cs typeface="Arial"/>
              </a:rPr>
              <a:t> repo: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dirty="0">
                <a:ea typeface="+mn-lt"/>
                <a:cs typeface="+mn-lt"/>
                <a:hlinkClick r:id="rId2"/>
              </a:rPr>
              <a:t>http://github.com/massgov-eohhs/mha_reg_reporting</a:t>
            </a:r>
            <a:r>
              <a:rPr lang="en-US" sz="1400" dirty="0">
                <a:ea typeface="+mn-lt"/>
                <a:cs typeface="+mn-lt"/>
              </a:rPr>
              <a:t> </a:t>
            </a:r>
            <a:endParaRPr lang="en-US" sz="1400" b="1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Code for test cases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Reference text </a:t>
            </a:r>
            <a:r>
              <a:rPr lang="en-US" sz="1400" dirty="0">
                <a:cs typeface="Arial"/>
                <a:hlinkClick r:id="rId3"/>
              </a:rPr>
              <a:t>document</a:t>
            </a:r>
            <a:r>
              <a:rPr lang="en-US" sz="1400" dirty="0">
                <a:cs typeface="Arial"/>
              </a:rPr>
              <a:t> (links to snowflake documentation imbedded)</a:t>
            </a:r>
          </a:p>
          <a:p>
            <a:r>
              <a:rPr lang="en-US" sz="1400" b="1" dirty="0">
                <a:cs typeface="Arial"/>
              </a:rPr>
              <a:t>Reference document:</a:t>
            </a:r>
            <a:r>
              <a:rPr lang="en-US" sz="1400" b="1" dirty="0">
                <a:ea typeface="+mn-lt"/>
                <a:cs typeface="+mn-lt"/>
              </a:rPr>
              <a:t> </a:t>
            </a:r>
            <a:r>
              <a:rPr lang="en-US" sz="1400" dirty="0">
                <a:ea typeface="+mn-lt"/>
                <a:cs typeface="+mn-lt"/>
                <a:hlinkClick r:id="rId4"/>
              </a:rPr>
              <a:t>http://github.com/massgov-eohhs/mha_reg_reporting/blob/main/REF-automate-snowflake-task.md</a:t>
            </a:r>
            <a:r>
              <a:rPr lang="en-US" sz="1400" dirty="0">
                <a:ea typeface="+mn-lt"/>
                <a:cs typeface="+mn-lt"/>
              </a:rPr>
              <a:t> 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Document compiled by automation workgroup with notes on steps to automate, example code, and links to snowflake documentation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Will be updated as testing / use continues</a:t>
            </a:r>
          </a:p>
          <a:p>
            <a:r>
              <a:rPr lang="en-US" sz="1400" b="1" dirty="0">
                <a:cs typeface="Arial"/>
              </a:rPr>
              <a:t>Cron syntax: 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Snowflake cron: </a:t>
            </a:r>
            <a:r>
              <a:rPr lang="en-US" sz="1400" dirty="0">
                <a:ea typeface="+mn-lt"/>
                <a:cs typeface="+mn-lt"/>
                <a:hlinkClick r:id="rId5"/>
              </a:rPr>
              <a:t>https://docs.snowflake.com/en/sql-reference/sql/create-task</a:t>
            </a:r>
            <a:endParaRPr lang="en-US" sz="1400" dirty="0"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General cron: </a:t>
            </a:r>
            <a:r>
              <a:rPr lang="en-US" sz="1400" dirty="0">
                <a:ea typeface="+mn-lt"/>
                <a:cs typeface="+mn-lt"/>
                <a:hlinkClick r:id="rId6"/>
              </a:rPr>
              <a:t>https://crontab.guru/</a:t>
            </a:r>
            <a:r>
              <a:rPr lang="en-US" sz="1400" dirty="0">
                <a:ea typeface="+mn-lt"/>
                <a:cs typeface="+mn-lt"/>
              </a:rPr>
              <a:t> </a:t>
            </a:r>
            <a:endParaRPr lang="en-US" sz="1400" dirty="0">
              <a:cs typeface="Arial"/>
            </a:endParaRPr>
          </a:p>
          <a:p>
            <a:r>
              <a:rPr lang="en-US" sz="1400" b="1" dirty="0">
                <a:cs typeface="Arial"/>
              </a:rPr>
              <a:t>Snowflake tasks documentation: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Tasks:</a:t>
            </a:r>
            <a:r>
              <a:rPr lang="en-US" sz="1400" b="1" dirty="0">
                <a:cs typeface="Arial"/>
              </a:rPr>
              <a:t> </a:t>
            </a:r>
            <a:r>
              <a:rPr lang="en-US" sz="1400" dirty="0">
                <a:ea typeface="+mn-lt"/>
                <a:cs typeface="+mn-lt"/>
                <a:hlinkClick r:id="rId5"/>
              </a:rPr>
              <a:t>https://docs.snowflake.com/en/sql-reference/sql/create-task</a:t>
            </a:r>
            <a:endParaRPr lang="en-US" sz="1400" b="1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cs typeface="Arial"/>
              </a:rPr>
              <a:t>Procedures: </a:t>
            </a:r>
            <a:r>
              <a:rPr lang="en-US" sz="1400" dirty="0">
                <a:cs typeface="Arial"/>
                <a:hlinkClick r:id="rId7"/>
              </a:rPr>
              <a:t>https</a:t>
            </a:r>
            <a:r>
              <a:rPr lang="en-US" sz="1400" dirty="0">
                <a:ea typeface="+mn-lt"/>
                <a:cs typeface="+mn-lt"/>
                <a:hlinkClick r:id="rId7"/>
              </a:rPr>
              <a:t>://docs.snowflake.com/en/sql-reference/sql/create-procedure</a:t>
            </a: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sz="13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124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13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MZchispB7Fwns2QhDaM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MZchispB7Fwns2QhDa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RM_CF_DG1140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H Theme - no footer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0C0C0"/>
      </a:accent1>
      <a:accent2>
        <a:srgbClr val="4FB94F"/>
      </a:accent2>
      <a:accent3>
        <a:srgbClr val="1D954F"/>
      </a:accent3>
      <a:accent4>
        <a:srgbClr val="5E8BFF"/>
      </a:accent4>
      <a:accent5>
        <a:srgbClr val="FFCD33"/>
      </a:accent5>
      <a:accent6>
        <a:srgbClr val="808080"/>
      </a:accent6>
      <a:hlink>
        <a:srgbClr val="1D954F"/>
      </a:hlink>
      <a:folHlink>
        <a:srgbClr val="5E8BF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>
          <a:solidFill>
            <a:srgbClr val="808080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defTabSz="914400" fontAlgn="base">
          <a:spcBef>
            <a:spcPct val="0"/>
          </a:spcBef>
          <a:spcAft>
            <a:spcPct val="0"/>
          </a:spcAft>
          <a:defRPr sz="1200" dirty="0">
            <a:solidFill>
              <a:srgbClr val="000000"/>
            </a:solidFill>
            <a:latin typeface="Arial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0C0C0"/>
        </a:accent1>
        <a:accent2>
          <a:srgbClr val="4FB94F"/>
        </a:accent2>
        <a:accent3>
          <a:srgbClr val="1D954F"/>
        </a:accent3>
        <a:accent4>
          <a:srgbClr val="5E8BFF"/>
        </a:accent4>
        <a:accent5>
          <a:srgbClr val="FFCD33"/>
        </a:accent5>
        <a:accent6>
          <a:srgbClr val="808080"/>
        </a:accent6>
        <a:hlink>
          <a:srgbClr val="1D954F"/>
        </a:hlink>
        <a:folHlink>
          <a:srgbClr val="5E8B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9D2FCE26A5CF42B73DB707666E1E83" ma:contentTypeVersion="14" ma:contentTypeDescription="Create a new document." ma:contentTypeScope="" ma:versionID="97928695f07855f3e69c6585b77ac46e">
  <xsd:schema xmlns:xsd="http://www.w3.org/2001/XMLSchema" xmlns:xs="http://www.w3.org/2001/XMLSchema" xmlns:p="http://schemas.microsoft.com/office/2006/metadata/properties" xmlns:ns2="67cbf261-e971-4a38-83b4-d85e273e70b4" xmlns:ns3="46f7fc10-315f-4884-8231-57a9c90b9c56" targetNamespace="http://schemas.microsoft.com/office/2006/metadata/properties" ma:root="true" ma:fieldsID="855a00167c9da807d6be16cf9fd3f6fb" ns2:_="" ns3:_="">
    <xsd:import namespace="67cbf261-e971-4a38-83b4-d85e273e70b4"/>
    <xsd:import namespace="46f7fc10-315f-4884-8231-57a9c90b9c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88938e48bae4cc189bb2372a6365591" minOccurs="0"/>
                <xsd:element ref="ns3:TaxCatchAll" minOccurs="0"/>
                <xsd:element ref="ns2:MediaServiceObjectDetectorVersion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cbf261-e971-4a38-83b4-d85e273e70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88938e48bae4cc189bb2372a6365591" ma:index="13" nillable="true" ma:taxonomy="true" ma:internalName="l88938e48bae4cc189bb2372a6365591" ma:taxonomyFieldName="test" ma:displayName="test" ma:default="" ma:fieldId="{588938e4-8bae-4cc1-89bb-2372a6365591}" ma:sspId="9f123c60-6d59-4beb-a46f-4c7d903a1f29" ma:termSetId="8ed8c9ea-7052-4c1d-a4d7-b9c10bffea6f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f123c60-6d59-4beb-a46f-4c7d903a1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7fc10-315f-4884-8231-57a9c90b9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35addaa-1d35-4b8f-8fba-54641e96c770}" ma:internalName="TaxCatchAll" ma:showField="CatchAllData" ma:web="46f7fc10-315f-4884-8231-57a9c90b9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cbf261-e971-4a38-83b4-d85e273e70b4">
      <Terms xmlns="http://schemas.microsoft.com/office/infopath/2007/PartnerControls"/>
    </lcf76f155ced4ddcb4097134ff3c332f>
    <TaxCatchAll xmlns="46f7fc10-315f-4884-8231-57a9c90b9c56" xsi:nil="true"/>
    <l88938e48bae4cc189bb2372a6365591 xmlns="67cbf261-e971-4a38-83b4-d85e273e70b4">
      <Terms xmlns="http://schemas.microsoft.com/office/infopath/2007/PartnerControls"/>
    </l88938e48bae4cc189bb2372a6365591>
    <SharedWithUsers xmlns="46f7fc10-315f-4884-8231-57a9c90b9c56">
      <UserInfo>
        <DisplayName>Raboin, Keith B. (EHS)</DisplayName>
        <AccountId>74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0CC7FBF-3B04-489A-99BA-E577EC5291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353AF4-C9F1-4957-9A20-99A8E5644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cbf261-e971-4a38-83b4-d85e273e70b4"/>
    <ds:schemaRef ds:uri="46f7fc10-315f-4884-8231-57a9c90b9c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2D6032-3AC1-42D6-ADAB-293FF0836FD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67cbf261-e971-4a38-83b4-d85e273e70b4"/>
    <ds:schemaRef ds:uri="46f7fc10-315f-4884-8231-57a9c90b9c56"/>
    <ds:schemaRef ds:uri="http://purl.org/dc/terms/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e861d16-48b7-4a0e-9806-8c04d81b7b2a}" enabled="0" method="" siteId="{3e861d16-48b7-4a0e-9806-8c04d81b7b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1752</Words>
  <Application>Microsoft Office PowerPoint</Application>
  <PresentationFormat>On-screen Show (4:3)</PresentationFormat>
  <Paragraphs>229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ＭＳ Ｐゴシック</vt:lpstr>
      <vt:lpstr>Arial</vt:lpstr>
      <vt:lpstr>Calibri</vt:lpstr>
      <vt:lpstr>Courier New</vt:lpstr>
      <vt:lpstr>Wingdings</vt:lpstr>
      <vt:lpstr>SRM_CF_DG1140</vt:lpstr>
      <vt:lpstr>1_SRM_CF_DG1140</vt:lpstr>
      <vt:lpstr>MH Theme - no footer</vt:lpstr>
      <vt:lpstr>think-cell Slide</vt:lpstr>
      <vt:lpstr>Weekly Finance Dashboard Automation</vt:lpstr>
      <vt:lpstr>Why We Automated</vt:lpstr>
      <vt:lpstr>Before: Manual Excel-Based Weekly Reporting</vt:lpstr>
      <vt:lpstr>After: Automated Snowflake + Tableau Workflow</vt:lpstr>
      <vt:lpstr>Execution Flow &amp; Dependency Control</vt:lpstr>
      <vt:lpstr>Previous Process – Manual Workflow</vt:lpstr>
      <vt:lpstr>Business Logic Overview</vt:lpstr>
      <vt:lpstr>Task Scheduling + Dynamic Date Logic</vt:lpstr>
      <vt:lpstr>Master Procedure – Orchestration + Notifications (Part 1)</vt:lpstr>
      <vt:lpstr>Master Procedure – Orchestration + Notifications (Part 2)</vt:lpstr>
      <vt:lpstr>Automation Controls &amp; Governance</vt:lpstr>
      <vt:lpstr>Reporting Data Model</vt:lpstr>
      <vt:lpstr>Recent Enhancements to Weekly Finance Dashboard</vt:lpstr>
      <vt:lpstr>Weekly Changes (Adds &amp; Terms)</vt:lpstr>
      <vt:lpstr>Impact + Reusable Automation Pattern</vt:lpstr>
      <vt:lpstr>Reference links</vt:lpstr>
    </vt:vector>
  </TitlesOfParts>
  <Company>EOHHS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ADS Next Steps</dc:title>
  <dc:creator>Steve Anastos</dc:creator>
  <cp:lastModifiedBy>Kray, Tatyana (EHS)</cp:lastModifiedBy>
  <cp:revision>7</cp:revision>
  <cp:lastPrinted>2020-01-09T20:01:35Z</cp:lastPrinted>
  <dcterms:created xsi:type="dcterms:W3CDTF">2017-10-04T15:35:51Z</dcterms:created>
  <dcterms:modified xsi:type="dcterms:W3CDTF">2026-04-22T16:48:45Z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0x010100A59D2FCE26A5CF42B73DB707666E1E83</vt:lpwstr>
  </property>
  <property fmtid="{D5CDD505-2E9C-101B-9397-08002B2CF9AE}" pid="3" name="MediaServiceImageTags">
    <vt:lpwstr/>
  </property>
  <property fmtid="{D5CDD505-2E9C-101B-9397-08002B2CF9AE}" pid="4" name="test">
    <vt:lpwstr/>
  </property>
</Properties>
</file>